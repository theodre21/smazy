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eaker 1" id="{427c1376-d477-c1e3-ccfe-21bb9c3ad914}">
          <p14:sldIdLst>
            <p14:sldId id="256"/>
            <p14:sldId id="257"/>
          </p14:sldIdLst>
        </p14:section>
        <p14:section name="Speaker 2" id="{226bbe34-3f74-c670-171c-0034f937cd44}">
          <p14:sldIdLst>
            <p14:sldId id="258"/>
          </p14:sldIdLst>
        </p14:section>
        <p14:section name="SDG 4" id="{5bfbfeb2-a3f9-afe1-5f72-6582601be569}">
          <p14:sldIdLst>
            <p14:sldId id="259"/>
          </p14:sldIdLst>
        </p14:section>
        <p14:section name="Speaker 3" id="{6ff180fd-90fe-15ca-6474-5467f988de4c}">
          <p14:sldIdLst>
            <p14:sldId id="260"/>
            <p14:sldId id="261"/>
          </p14:sldIdLst>
        </p14:section>
        <p14:section name="Speaker 4" id="{c0a2b0c4-5b9c-498d-8c51-611f684c5a75}">
          <p14:sldIdLst>
            <p14:sldId id="262"/>
            <p14:sldId id="263"/>
            <p14:sldId id="264"/>
          </p14:sldIdLst>
        </p14:section>
        <p14:section name="Speaker 5" id="{5f0dc082-0aff-bada-327f-7edba8121356}">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Hi everyone, we’re Team Smazy. Smazy blends “smart” and “lazy”. It’s a study platform for students who want to learn well with the least friction, and it’s built on one idea: when you’re locked in on a lecture slide, you should never have to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Here’s the problem. When a slide confuses you, you switch to a browser tab or a chatbot to ask “what does this mean?” Even a quick switch costs attention and breaks your flow. Second, studying with AI creates long, messy chats. The one explanation that finally made sense gets buried, and scrolling back for it kills your momentum. And third, course material is scattered: slides, syllabus, rubrics and guidelines, all in different places. Too much in one place overwhelms students. That’s what Smazy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Here’s how it works. A student uploads the whole course folder once, straight from their learning system. Smazy sorts every file by what the student does with it. Lectures go into Learn, in order. The syllabus, homework, project guidelines, rubrics, readings and textbooks go into Course Info. Then it finds the first lecture by reading the file names, whether they say Lecture 01, Week 1 or L1, and opens it. If it isn’t sure, it asks. From then on, everything lives right on the slide: your Study Partner, your notes, your links and even the web. We follow four principles: simplicity, orderliness, protecting flow, and keeping learning momentum. Our users are university students who are smart but lazy: they want to do well, with no wasted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4: QUALITY EDUCATION (right after Speaker 2)
When we think about SDG 4: Quality Education, we usually think of building schools and buying books. But today, students face a new problem: too much distraction and feeling very tired.
Smazy helps with SDG 4 in three easy ways:
- Fairness for Everyone: Too many tabs and messy files make students tired before they even study. Smazy organizes everything so everyone has an equal chance to learn.
- Helping Every Mind: Every student learns differently. For example, students with ADHD often find it hard to stay focused on long, plain text pages. Smazy adapts to help each person by breaking information into clear, bite-sized pieces.
- Protecting Mental Health: Trying to focus with too many windows open is very stressful. Smazy keeps things simple so students can stay calm.
In the end, Smazy helps people study smarter and protect their mental health. Good education is not about staying up all night; it is about learning well without burning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Feature one is the Study Partner: the classmate who already read the syllabus and knows the rubric by heart. It is not a chatbot you summon. It is a small character that sits on the slide and keeps you company while you study. You can name it and choose how it looks. And it notices good habits: highlight a key line or link two lectures, and it tells you what you did well and why it helps. It is honest too: highlight everything, and it tells you to pick the lines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Press slash, and talking to it looks like messaging a friend, not filling in a chatbot. It knows which slide you are on and has read your course files. You choose a quick answer or a deep one, and you can simply speak. The plan is to match it to each student’s personality: a few short questions decide how proactive it is and what tone it uses. That part is not built yet, and it needs a larger AI model than the free one in our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Feature two is quick links. When a lecture mentions the project, a button takes you straight to the guidelines. Shortcuts work like game controls: G then 2 opens Lecture 2, K then S opens the syllabus. You can pin a sticky note that links this slide to a slide in an earlier lecture: J jumps there, and J again brings you back. And when you need the web, G then B opens a small browser inside Smazy, so even a search doesn’t take you away. No shortcut clashes with your browser, and single keys pause while you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Feature three is the organized conversation panel: a rewind, not another chat. Every conversation stays with the slide it happened on. The AI works out which questions are follow-ups and draws the slide’s history as a tree, coloured by the kind of question. You can star the answers that mattered, and one click takes you back. Most of this is built; the review list and automatic notes are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Here’s what we built. Drop in a real course folder, and Smazy sorts it and opens the first lecture. We tested it on five of our own courses, with PDF, PowerPoint and Excel files. On the slide you can highlight, draw and add text boxes like in Preview, download your notes as a PDF, search the web, and talk to your Study Partner about the exact slide you’re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Technical implementation (spec in Kiro)
Suggested: We built Smazy spec-first in Kiro. requirements.md states what it must do, for example: when a student uploads a course folder, Smazy shall automatically group files into Learn and Course Info. design.md describes how, such as the Study Partner chat and its conversation logs. And tasks.md breaks it into buildable steps: the upload screen, the auto-grouping, and the personality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We built this in a short time, so we want to be upfront about its limits. The biggest one is the Study Partner’s personality. Our demo runs on a free AI model on this laptop. It is too small to adapt to each student’s personality, and it sometimes gets things wrong. So today every student gets the same partner; only its name and look are theirs. We expect a larger model, such as Claude Opus on Amazon Bedrock, to do this far better. It is already wired in; we just didn’t have credits to test it. The review list and automatic notes from Feature three are also still missing, and everything runs on one laptop, with no accounts or cloud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5
Next, we’ll finish the conversation panel, add the personality questions, connect Claude on Bedrock and test whether it really is a better study partner, move to encrypted cloud storage, and test with real students. Smazy: smart about being lazy. Thank you!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mazy 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mazy 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686800" cy="292608"/>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64240" cy="749808"/>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713232" y="6373368"/>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smazy  ·  AWS Hackathon 2026</a:t>
            </a:r>
            <a:endParaRPr lang="en-US" sz="1000" dirty="0"/>
          </a:p>
        </p:txBody>
      </p:sp>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Wordmark dot"/>
          <p:cNvSpPr/>
          <p:nvPr/>
        </p:nvSpPr>
        <p:spPr>
          <a:xfrm>
            <a:off x="731520" y="1481328"/>
            <a:ext cx="384048" cy="384048"/>
          </a:xfrm>
          <a:prstGeom prst="ellipse">
            <a:avLst/>
          </a:prstGeom>
          <a:solidFill>
            <a:schemeClr val="accent1"/>
          </a:solidFill>
          <a:ln w="12700">
            <a:solidFill>
              <a:schemeClr val="accent1"/>
            </a:solidFill>
            <a:prstDash val="solid"/>
          </a:ln>
        </p:spPr>
      </p:sp>
      <p:sp>
        <p:nvSpPr>
          <p:cNvPr id="4" name="Wordmark"/>
          <p:cNvSpPr txBox="1"/>
          <p:nvPr/>
        </p:nvSpPr>
        <p:spPr>
          <a:xfrm>
            <a:off x="1207008" y="1024128"/>
            <a:ext cx="4754880" cy="1188720"/>
          </a:xfrm>
          <a:prstGeom prst="rect">
            <a:avLst/>
          </a:prstGeom>
          <a:noFill/>
          <a:ln/>
        </p:spPr>
        <p:txBody>
          <a:bodyPr wrap="square" lIns="0" tIns="0" rIns="0" bIns="0" rtlCol="0" anchor="ctr"/>
          <a:lstStyle/>
          <a:p>
            <a:pPr indent="0" marL="0">
              <a:buNone/>
            </a:pPr>
            <a:r>
              <a:rPr lang="en-US" sz="8000" b="1" dirty="0">
                <a:solidFill>
                  <a:schemeClr val="bg1"/>
                </a:solidFill>
              </a:rPr>
              <a:t>smazy</a:t>
            </a:r>
            <a:endParaRPr lang="en-US" sz="8000" dirty="0"/>
          </a:p>
        </p:txBody>
      </p:sp>
      <p:sp>
        <p:nvSpPr>
          <p:cNvPr id="5" name="Tagline"/>
          <p:cNvSpPr txBox="1"/>
          <p:nvPr/>
        </p:nvSpPr>
        <p:spPr>
          <a:xfrm>
            <a:off x="731520" y="2331720"/>
            <a:ext cx="5303520" cy="548640"/>
          </a:xfrm>
          <a:prstGeom prst="rect">
            <a:avLst/>
          </a:prstGeom>
          <a:noFill/>
          <a:ln/>
        </p:spPr>
        <p:txBody>
          <a:bodyPr wrap="square" lIns="0" tIns="0" rIns="0" bIns="0" rtlCol="0" anchor="ctr"/>
          <a:lstStyle/>
          <a:p>
            <a:pPr indent="0" marL="0">
              <a:buNone/>
            </a:pPr>
            <a:r>
              <a:rPr lang="en-US" sz="3000" i="1" dirty="0">
                <a:solidFill>
                  <a:schemeClr val="accent1"/>
                </a:solidFill>
                <a:latin typeface="+mj-lt" pitchFamily="34" charset="0"/>
                <a:ea typeface="+mj-lt" pitchFamily="34" charset="-122"/>
                <a:cs typeface="+mj-lt" pitchFamily="34" charset="-120"/>
              </a:rPr>
              <a:t>Smart about being lazy.</a:t>
            </a:r>
            <a:endParaRPr lang="en-US" sz="3000" dirty="0"/>
          </a:p>
        </p:txBody>
      </p:sp>
      <p:sp>
        <p:nvSpPr>
          <p:cNvPr id="6" name="Subtitle"/>
          <p:cNvSpPr txBox="1"/>
          <p:nvPr/>
        </p:nvSpPr>
        <p:spPr>
          <a:xfrm>
            <a:off x="731520" y="3108960"/>
            <a:ext cx="5120640" cy="914400"/>
          </a:xfrm>
          <a:prstGeom prst="rect">
            <a:avLst/>
          </a:prstGeom>
          <a:noFill/>
          <a:ln/>
        </p:spPr>
        <p:txBody>
          <a:bodyPr wrap="square" lIns="0" tIns="0" rIns="0" bIns="0" rtlCol="0" anchor="t"/>
          <a:lstStyle/>
          <a:p>
            <a:pPr indent="0" marL="0">
              <a:buNone/>
            </a:pPr>
            <a:r>
              <a:rPr lang="en-US" sz="1800" dirty="0">
                <a:solidFill>
                  <a:schemeClr val="bg1"/>
                </a:solidFill>
              </a:rPr>
              <a:t>A study platform where the help comes to the lecture slide, so students never have to leave it.</a:t>
            </a:r>
            <a:endParaRPr lang="en-US" sz="1800" dirty="0"/>
          </a:p>
        </p:txBody>
      </p:sp>
      <p:sp>
        <p:nvSpPr>
          <p:cNvPr id="7" name="Event"/>
          <p:cNvSpPr txBox="1"/>
          <p:nvPr/>
        </p:nvSpPr>
        <p:spPr>
          <a:xfrm>
            <a:off x="731520" y="5989320"/>
            <a:ext cx="5486400" cy="320040"/>
          </a:xfrm>
          <a:prstGeom prst="rect">
            <a:avLst/>
          </a:prstGeom>
          <a:noFill/>
          <a:ln/>
        </p:spPr>
        <p:txBody>
          <a:bodyPr wrap="square" lIns="0" tIns="0" rIns="0" bIns="0" rtlCol="0" anchor="ctr"/>
          <a:lstStyle/>
          <a:p>
            <a:pPr indent="0" marL="0">
              <a:buNone/>
            </a:pPr>
            <a:r>
              <a:rPr lang="en-US" sz="1300" dirty="0">
                <a:solidFill>
                  <a:schemeClr val="accent6"/>
                </a:solidFill>
              </a:rPr>
              <a:t>AWS Hackathon  ·  October 2026  ·  Team Smazy</a:t>
            </a:r>
            <a:endParaRPr lang="en-US" sz="1300" dirty="0"/>
          </a:p>
        </p:txBody>
      </p:sp>
      <p:sp>
        <p:nvSpPr>
          <p:cNvPr id="8" name="Prototype screenshot frame"/>
          <p:cNvSpPr/>
          <p:nvPr/>
        </p:nvSpPr>
        <p:spPr>
          <a:xfrm>
            <a:off x="6300216" y="1362456"/>
            <a:ext cx="5367528" cy="3246120"/>
          </a:xfrm>
          <a:prstGeom prst="roundRect">
            <a:avLst>
              <a:gd name="adj" fmla="val 2254"/>
            </a:avLst>
          </a:prstGeom>
          <a:solidFill>
            <a:schemeClr val="bg1"/>
          </a:solidFill>
          <a:ln w="9525">
            <a:solidFill>
              <a:srgbClr val="D9D4CA"/>
            </a:solidFill>
            <a:prstDash val="solid"/>
          </a:ln>
          <a:effectLst>
            <a:outerShdw sx="100000" sy="100000" kx="0" ky="0" algn="bl" rotWithShape="0" blurRad="177800" dist="50800" dir="5400000">
              <a:srgbClr val="193B5A">
                <a:alpha val="18000"/>
              </a:srgbClr>
            </a:outerShdw>
          </a:effectLst>
        </p:spPr>
      </p:sp>
      <p:pic>
        <p:nvPicPr>
          <p:cNvPr id="9" name="Prototype screenshot" descr="img/hero2.png">    </p:cNvPr>
          <p:cNvPicPr>
            <a:picLocks noChangeAspect="1"/>
          </p:cNvPicPr>
          <p:nvPr/>
        </p:nvPicPr>
        <p:blipFill>
          <a:blip r:embed="rId1"/>
          <a:stretch>
            <a:fillRect/>
          </a:stretch>
        </p:blipFill>
        <p:spPr>
          <a:xfrm>
            <a:off x="6355080" y="1417320"/>
            <a:ext cx="5257800" cy="3136392"/>
          </a:xfrm>
          <a:prstGeom prst="rect">
            <a:avLst/>
          </a:prstGeom>
        </p:spPr>
      </p:pic>
      <p:sp>
        <p:nvSpPr>
          <p:cNvPr id="10" name="Screenshot caption"/>
          <p:cNvSpPr txBox="1"/>
          <p:nvPr/>
        </p:nvSpPr>
        <p:spPr>
          <a:xfrm>
            <a:off x="6355080" y="4709160"/>
            <a:ext cx="5257800" cy="320040"/>
          </a:xfrm>
          <a:prstGeom prst="rect">
            <a:avLst/>
          </a:prstGeom>
          <a:noFill/>
          <a:ln/>
        </p:spPr>
        <p:txBody>
          <a:bodyPr wrap="square" lIns="0" tIns="0" rIns="0" bIns="0" rtlCol="0" anchor="ctr"/>
          <a:lstStyle/>
          <a:p>
            <a:pPr algn="l" indent="0" marL="0">
              <a:buNone/>
            </a:pPr>
            <a:r>
              <a:rPr lang="en-US" sz="1100" i="1" dirty="0">
                <a:solidFill>
                  <a:schemeClr val="accent6"/>
                </a:solidFill>
              </a:rPr>
              <a:t>The working prototype: a lecture with notes and a link, beside the Study Partner’s history tree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PROBLEM</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Studying with AI today pulls students out of their flow</a:t>
            </a:r>
            <a:endParaRPr lang="en-US" sz="3200" dirty="0"/>
          </a:p>
        </p:txBody>
      </p:sp>
      <p:sp>
        <p:nvSpPr>
          <p:cNvPr id="5" name="Problem card 1"/>
          <p:cNvSpPr/>
          <p:nvPr/>
        </p:nvSpPr>
        <p:spPr>
          <a:xfrm>
            <a:off x="548640" y="1783080"/>
            <a:ext cx="3520440" cy="3429000"/>
          </a:xfrm>
          <a:prstGeom prst="roundRect">
            <a:avLst>
              <a:gd name="adj" fmla="val 3200"/>
            </a:avLst>
          </a:prstGeom>
          <a:solidFill>
            <a:schemeClr val="bg2"/>
          </a:solidFill>
          <a:ln w="12700">
            <a:solidFill>
              <a:schemeClr val="bg2"/>
            </a:solidFill>
            <a:prstDash val="solid"/>
          </a:ln>
        </p:spPr>
      </p:sp>
      <p:sp>
        <p:nvSpPr>
          <p:cNvPr id="6" name="Problem icon 1 circle"/>
          <p:cNvSpPr/>
          <p:nvPr/>
        </p:nvSpPr>
        <p:spPr>
          <a:xfrm>
            <a:off x="868680" y="2103120"/>
            <a:ext cx="685800" cy="685800"/>
          </a:xfrm>
          <a:prstGeom prst="ellipse">
            <a:avLst/>
          </a:prstGeom>
          <a:solidFill>
            <a:schemeClr val="accent1"/>
          </a:solidFill>
          <a:ln w="12700">
            <a:solidFill>
              <a:schemeClr val="accent1"/>
            </a:solidFill>
            <a:prstDash val="solid"/>
          </a:ln>
        </p:spPr>
      </p:sp>
      <p:pic>
        <p:nvPicPr>
          <p:cNvPr id="7" name="Problem icon 1" descr="preencoded.png">    </p:cNvPr>
          <p:cNvPicPr>
            <a:picLocks noChangeAspect="1"/>
          </p:cNvPicPr>
          <p:nvPr/>
        </p:nvPicPr>
        <p:blipFill>
          <a:blip r:embed="rId1"/>
          <a:stretch>
            <a:fillRect/>
          </a:stretch>
        </p:blipFill>
        <p:spPr>
          <a:xfrm>
            <a:off x="1053846" y="2288286"/>
            <a:ext cx="315468" cy="315468"/>
          </a:xfrm>
          <a:prstGeom prst="rect">
            <a:avLst/>
          </a:prstGeom>
        </p:spPr>
      </p:pic>
      <p:sp>
        <p:nvSpPr>
          <p:cNvPr id="8" name="Problem heading 1"/>
          <p:cNvSpPr txBox="1"/>
          <p:nvPr/>
        </p:nvSpPr>
        <p:spPr>
          <a:xfrm>
            <a:off x="868680" y="3017520"/>
            <a:ext cx="2926080" cy="685800"/>
          </a:xfrm>
          <a:prstGeom prst="rect">
            <a:avLst/>
          </a:prstGeom>
          <a:noFill/>
          <a:ln/>
        </p:spPr>
        <p:txBody>
          <a:bodyPr wrap="square" lIns="0" tIns="0" rIns="0" bIns="0" rtlCol="0" anchor="t"/>
          <a:lstStyle/>
          <a:p>
            <a:pPr indent="0" marL="0">
              <a:buNone/>
            </a:pPr>
            <a:r>
              <a:rPr lang="en-US" sz="2000" b="1" dirty="0">
                <a:solidFill>
                  <a:schemeClr val="tx2"/>
                </a:solidFill>
              </a:rPr>
              <a:t>Context switching breaks flow</a:t>
            </a:r>
            <a:endParaRPr lang="en-US" sz="2000" dirty="0"/>
          </a:p>
        </p:txBody>
      </p:sp>
      <p:sp>
        <p:nvSpPr>
          <p:cNvPr id="9" name="Problem text 1"/>
          <p:cNvSpPr txBox="1"/>
          <p:nvPr/>
        </p:nvSpPr>
        <p:spPr>
          <a:xfrm>
            <a:off x="868680" y="3749040"/>
            <a:ext cx="2926080" cy="1325880"/>
          </a:xfrm>
          <a:prstGeom prst="rect">
            <a:avLst/>
          </a:prstGeom>
          <a:noFill/>
          <a:ln/>
        </p:spPr>
        <p:txBody>
          <a:bodyPr wrap="square" lIns="0" tIns="0" rIns="0" bIns="0" rtlCol="0" anchor="t"/>
          <a:lstStyle/>
          <a:p>
            <a:pPr indent="0" marL="0">
              <a:buNone/>
            </a:pPr>
            <a:r>
              <a:rPr lang="en-US" sz="1500" dirty="0">
                <a:solidFill>
                  <a:schemeClr val="tx1"/>
                </a:solidFill>
              </a:rPr>
              <a:t>Every jump to a browser tab or a chatbot window to ask “what does this mean?” costs attention, even when it takes a moment.</a:t>
            </a:r>
            <a:endParaRPr lang="en-US" sz="1500" dirty="0"/>
          </a:p>
        </p:txBody>
      </p:sp>
      <p:sp>
        <p:nvSpPr>
          <p:cNvPr id="10" name="Problem card 2"/>
          <p:cNvSpPr/>
          <p:nvPr/>
        </p:nvSpPr>
        <p:spPr>
          <a:xfrm>
            <a:off x="4343400" y="1783080"/>
            <a:ext cx="3520440" cy="3429000"/>
          </a:xfrm>
          <a:prstGeom prst="roundRect">
            <a:avLst>
              <a:gd name="adj" fmla="val 3200"/>
            </a:avLst>
          </a:prstGeom>
          <a:solidFill>
            <a:schemeClr val="bg2"/>
          </a:solidFill>
          <a:ln w="12700">
            <a:solidFill>
              <a:schemeClr val="bg2"/>
            </a:solidFill>
            <a:prstDash val="solid"/>
          </a:ln>
        </p:spPr>
      </p:sp>
      <p:sp>
        <p:nvSpPr>
          <p:cNvPr id="11" name="Problem icon 2 circle"/>
          <p:cNvSpPr/>
          <p:nvPr/>
        </p:nvSpPr>
        <p:spPr>
          <a:xfrm>
            <a:off x="4663440" y="2103120"/>
            <a:ext cx="685800" cy="685800"/>
          </a:xfrm>
          <a:prstGeom prst="ellipse">
            <a:avLst/>
          </a:prstGeom>
          <a:solidFill>
            <a:schemeClr val="accent1"/>
          </a:solidFill>
          <a:ln w="12700">
            <a:solidFill>
              <a:schemeClr val="accent1"/>
            </a:solidFill>
            <a:prstDash val="solid"/>
          </a:ln>
        </p:spPr>
      </p:sp>
      <p:pic>
        <p:nvPicPr>
          <p:cNvPr id="12" name="Problem icon 2" descr="preencoded.png">    </p:cNvPr>
          <p:cNvPicPr>
            <a:picLocks noChangeAspect="1"/>
          </p:cNvPicPr>
          <p:nvPr/>
        </p:nvPicPr>
        <p:blipFill>
          <a:blip r:embed="rId2"/>
          <a:stretch>
            <a:fillRect/>
          </a:stretch>
        </p:blipFill>
        <p:spPr>
          <a:xfrm>
            <a:off x="4848606" y="2288286"/>
            <a:ext cx="315468" cy="315468"/>
          </a:xfrm>
          <a:prstGeom prst="rect">
            <a:avLst/>
          </a:prstGeom>
        </p:spPr>
      </p:pic>
      <p:sp>
        <p:nvSpPr>
          <p:cNvPr id="13" name="Problem heading 2"/>
          <p:cNvSpPr txBox="1"/>
          <p:nvPr/>
        </p:nvSpPr>
        <p:spPr>
          <a:xfrm>
            <a:off x="4663440" y="3017520"/>
            <a:ext cx="2926080" cy="685800"/>
          </a:xfrm>
          <a:prstGeom prst="rect">
            <a:avLst/>
          </a:prstGeom>
          <a:noFill/>
          <a:ln/>
        </p:spPr>
        <p:txBody>
          <a:bodyPr wrap="square" lIns="0" tIns="0" rIns="0" bIns="0" rtlCol="0" anchor="t"/>
          <a:lstStyle/>
          <a:p>
            <a:pPr indent="0" marL="0">
              <a:buNone/>
            </a:pPr>
            <a:r>
              <a:rPr lang="en-US" sz="2000" b="1" dirty="0">
                <a:solidFill>
                  <a:schemeClr val="tx2"/>
                </a:solidFill>
              </a:rPr>
              <a:t>AI study chats get messy</a:t>
            </a:r>
            <a:endParaRPr lang="en-US" sz="2000" dirty="0"/>
          </a:p>
        </p:txBody>
      </p:sp>
      <p:sp>
        <p:nvSpPr>
          <p:cNvPr id="14" name="Problem text 2"/>
          <p:cNvSpPr txBox="1"/>
          <p:nvPr/>
        </p:nvSpPr>
        <p:spPr>
          <a:xfrm>
            <a:off x="4663440" y="3749040"/>
            <a:ext cx="2926080" cy="1325880"/>
          </a:xfrm>
          <a:prstGeom prst="rect">
            <a:avLst/>
          </a:prstGeom>
          <a:noFill/>
          <a:ln/>
        </p:spPr>
        <p:txBody>
          <a:bodyPr wrap="square" lIns="0" tIns="0" rIns="0" bIns="0" rtlCol="0" anchor="t"/>
          <a:lstStyle/>
          <a:p>
            <a:pPr indent="0" marL="0">
              <a:buNone/>
            </a:pPr>
            <a:r>
              <a:rPr lang="en-US" sz="1500" dirty="0">
                <a:solidFill>
                  <a:schemeClr val="tx1"/>
                </a:solidFill>
              </a:rPr>
              <a:t>Explanations, follow-ups and side questions pile up. The answer that finally clicked is buried in one huge conversation.</a:t>
            </a:r>
            <a:endParaRPr lang="en-US" sz="1500" dirty="0"/>
          </a:p>
        </p:txBody>
      </p:sp>
      <p:sp>
        <p:nvSpPr>
          <p:cNvPr id="15" name="Problem card 3"/>
          <p:cNvSpPr/>
          <p:nvPr/>
        </p:nvSpPr>
        <p:spPr>
          <a:xfrm>
            <a:off x="8138160" y="1783080"/>
            <a:ext cx="3520440" cy="3429000"/>
          </a:xfrm>
          <a:prstGeom prst="roundRect">
            <a:avLst>
              <a:gd name="adj" fmla="val 3200"/>
            </a:avLst>
          </a:prstGeom>
          <a:solidFill>
            <a:schemeClr val="bg2"/>
          </a:solidFill>
          <a:ln w="12700">
            <a:solidFill>
              <a:schemeClr val="bg2"/>
            </a:solidFill>
            <a:prstDash val="solid"/>
          </a:ln>
        </p:spPr>
      </p:sp>
      <p:sp>
        <p:nvSpPr>
          <p:cNvPr id="16" name="Problem icon 3 circle"/>
          <p:cNvSpPr/>
          <p:nvPr/>
        </p:nvSpPr>
        <p:spPr>
          <a:xfrm>
            <a:off x="8458200" y="2103120"/>
            <a:ext cx="685800" cy="685800"/>
          </a:xfrm>
          <a:prstGeom prst="ellipse">
            <a:avLst/>
          </a:prstGeom>
          <a:solidFill>
            <a:schemeClr val="accent1"/>
          </a:solidFill>
          <a:ln w="12700">
            <a:solidFill>
              <a:schemeClr val="accent1"/>
            </a:solidFill>
            <a:prstDash val="solid"/>
          </a:ln>
        </p:spPr>
      </p:sp>
      <p:pic>
        <p:nvPicPr>
          <p:cNvPr id="17" name="Problem icon 3" descr="preencoded.png">    </p:cNvPr>
          <p:cNvPicPr>
            <a:picLocks noChangeAspect="1"/>
          </p:cNvPicPr>
          <p:nvPr/>
        </p:nvPicPr>
        <p:blipFill>
          <a:blip r:embed="rId3"/>
          <a:stretch>
            <a:fillRect/>
          </a:stretch>
        </p:blipFill>
        <p:spPr>
          <a:xfrm>
            <a:off x="8643366" y="2288286"/>
            <a:ext cx="315468" cy="315468"/>
          </a:xfrm>
          <a:prstGeom prst="rect">
            <a:avLst/>
          </a:prstGeom>
        </p:spPr>
      </p:pic>
      <p:sp>
        <p:nvSpPr>
          <p:cNvPr id="18" name="Problem heading 3"/>
          <p:cNvSpPr txBox="1"/>
          <p:nvPr/>
        </p:nvSpPr>
        <p:spPr>
          <a:xfrm>
            <a:off x="8458200" y="3017520"/>
            <a:ext cx="2926080" cy="685800"/>
          </a:xfrm>
          <a:prstGeom prst="rect">
            <a:avLst/>
          </a:prstGeom>
          <a:noFill/>
          <a:ln/>
        </p:spPr>
        <p:txBody>
          <a:bodyPr wrap="square" lIns="0" tIns="0" rIns="0" bIns="0" rtlCol="0" anchor="t"/>
          <a:lstStyle/>
          <a:p>
            <a:pPr indent="0" marL="0">
              <a:buNone/>
            </a:pPr>
            <a:r>
              <a:rPr lang="en-US" sz="2000" b="1" dirty="0">
                <a:solidFill>
                  <a:schemeClr val="tx2"/>
                </a:solidFill>
              </a:rPr>
              <a:t>Information overload</a:t>
            </a:r>
            <a:endParaRPr lang="en-US" sz="2000" dirty="0"/>
          </a:p>
        </p:txBody>
      </p:sp>
      <p:sp>
        <p:nvSpPr>
          <p:cNvPr id="19" name="Problem text 3"/>
          <p:cNvSpPr txBox="1"/>
          <p:nvPr/>
        </p:nvSpPr>
        <p:spPr>
          <a:xfrm>
            <a:off x="8458200" y="3749040"/>
            <a:ext cx="2926080" cy="1325880"/>
          </a:xfrm>
          <a:prstGeom prst="rect">
            <a:avLst/>
          </a:prstGeom>
          <a:noFill/>
          <a:ln/>
        </p:spPr>
        <p:txBody>
          <a:bodyPr wrap="square" lIns="0" tIns="0" rIns="0" bIns="0" rtlCol="0" anchor="t"/>
          <a:lstStyle/>
          <a:p>
            <a:pPr indent="0" marL="0">
              <a:buNone/>
            </a:pPr>
            <a:r>
              <a:rPr lang="en-US" sz="1500" dirty="0">
                <a:solidFill>
                  <a:schemeClr val="tx1"/>
                </a:solidFill>
              </a:rPr>
              <a:t>Slides, syllabus, rubrics and project guidelines are scattered across the course system, and searching for them breaks momentum.</a:t>
            </a:r>
            <a:endParaRPr lang="en-US" sz="1500" dirty="0"/>
          </a:p>
        </p:txBody>
      </p:sp>
      <p:sp>
        <p:nvSpPr>
          <p:cNvPr id="20" name="Problem takeaway"/>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800" b="1" dirty="0">
                <a:solidFill>
                  <a:schemeClr val="tx2"/>
                </a:solidFill>
              </a:rPr>
              <a:t>Too much in one place overwhelms students. </a:t>
            </a:r>
            <a:pPr indent="0" marL="0">
              <a:buNone/>
            </a:pPr>
            <a:r>
              <a:rPr lang="en-US" sz="1800" i="1" dirty="0">
                <a:solidFill>
                  <a:schemeClr val="accent1"/>
                </a:solidFill>
              </a:rPr>
              <a:t>That is the problem Smazy exists to fix.</a:t>
            </a:r>
            <a:endParaRPr lang="en-US" sz="1800" dirty="0"/>
          </a:p>
        </p:txBody>
      </p:sp>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THE IDEA</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Upload the course once. Study without leaving the slide</a:t>
            </a:r>
            <a:endParaRPr lang="en-US" sz="3200" dirty="0"/>
          </a:p>
        </p:txBody>
      </p:sp>
      <p:sp>
        <p:nvSpPr>
          <p:cNvPr id="5" name="Step 1 circle"/>
          <p:cNvSpPr/>
          <p:nvPr/>
        </p:nvSpPr>
        <p:spPr>
          <a:xfrm>
            <a:off x="548640" y="1783080"/>
            <a:ext cx="475488" cy="475488"/>
          </a:xfrm>
          <a:prstGeom prst="ellipse">
            <a:avLst/>
          </a:prstGeom>
          <a:solidFill>
            <a:schemeClr val="tx2"/>
          </a:solidFill>
          <a:ln w="12700">
            <a:solidFill>
              <a:schemeClr val="tx2"/>
            </a:solidFill>
            <a:prstDash val="solid"/>
          </a:ln>
        </p:spPr>
      </p:sp>
      <p:sp>
        <p:nvSpPr>
          <p:cNvPr id="6" name="Step 1 number"/>
          <p:cNvSpPr txBox="1"/>
          <p:nvPr/>
        </p:nvSpPr>
        <p:spPr>
          <a:xfrm>
            <a:off x="548640" y="1783080"/>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Step 1 heading"/>
          <p:cNvSpPr txBox="1"/>
          <p:nvPr/>
        </p:nvSpPr>
        <p:spPr>
          <a:xfrm>
            <a:off x="1234440" y="1746504"/>
            <a:ext cx="4480560" cy="347472"/>
          </a:xfrm>
          <a:prstGeom prst="rect">
            <a:avLst/>
          </a:prstGeom>
          <a:noFill/>
          <a:ln/>
        </p:spPr>
        <p:txBody>
          <a:bodyPr wrap="square" lIns="0" tIns="0" rIns="0" bIns="0" rtlCol="0" anchor="t"/>
          <a:lstStyle/>
          <a:p>
            <a:pPr indent="0" marL="0">
              <a:buNone/>
            </a:pPr>
            <a:r>
              <a:rPr lang="en-US" sz="1800" b="1" dirty="0">
                <a:solidFill>
                  <a:schemeClr val="tx2"/>
                </a:solidFill>
              </a:rPr>
              <a:t>Upload the whole course folder</a:t>
            </a:r>
            <a:endParaRPr lang="en-US" sz="1800" dirty="0"/>
          </a:p>
        </p:txBody>
      </p:sp>
      <p:sp>
        <p:nvSpPr>
          <p:cNvPr id="8" name="Step 1 text"/>
          <p:cNvSpPr txBox="1"/>
          <p:nvPr/>
        </p:nvSpPr>
        <p:spPr>
          <a:xfrm>
            <a:off x="1234440" y="2112264"/>
            <a:ext cx="4480560" cy="566928"/>
          </a:xfrm>
          <a:prstGeom prst="rect">
            <a:avLst/>
          </a:prstGeom>
          <a:noFill/>
          <a:ln/>
        </p:spPr>
        <p:txBody>
          <a:bodyPr wrap="square" lIns="0" tIns="0" rIns="0" bIns="0" rtlCol="0" anchor="t"/>
          <a:lstStyle/>
          <a:p>
            <a:pPr indent="0" marL="0">
              <a:buNone/>
            </a:pPr>
            <a:r>
              <a:rPr lang="en-US" sz="1400" dirty="0">
                <a:solidFill>
                  <a:schemeClr val="tx1"/>
                </a:solidFill>
              </a:rPr>
              <a:t>Lecture slides, syllabus, homework, rubrics and books: PDF, PowerPoint or Excel.</a:t>
            </a:r>
            <a:endParaRPr lang="en-US" sz="1400" dirty="0"/>
          </a:p>
        </p:txBody>
      </p:sp>
      <p:sp>
        <p:nvSpPr>
          <p:cNvPr id="9" name="Step 2 circle"/>
          <p:cNvSpPr/>
          <p:nvPr/>
        </p:nvSpPr>
        <p:spPr>
          <a:xfrm>
            <a:off x="548640" y="2807208"/>
            <a:ext cx="475488" cy="475488"/>
          </a:xfrm>
          <a:prstGeom prst="ellipse">
            <a:avLst/>
          </a:prstGeom>
          <a:solidFill>
            <a:schemeClr val="tx2"/>
          </a:solidFill>
          <a:ln w="12700">
            <a:solidFill>
              <a:schemeClr val="tx2"/>
            </a:solidFill>
            <a:prstDash val="solid"/>
          </a:ln>
        </p:spPr>
      </p:sp>
      <p:sp>
        <p:nvSpPr>
          <p:cNvPr id="10" name="Step 2 number"/>
          <p:cNvSpPr txBox="1"/>
          <p:nvPr/>
        </p:nvSpPr>
        <p:spPr>
          <a:xfrm>
            <a:off x="548640" y="28072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Step 2 heading"/>
          <p:cNvSpPr txBox="1"/>
          <p:nvPr/>
        </p:nvSpPr>
        <p:spPr>
          <a:xfrm>
            <a:off x="1234440" y="2770632"/>
            <a:ext cx="4480560" cy="347472"/>
          </a:xfrm>
          <a:prstGeom prst="rect">
            <a:avLst/>
          </a:prstGeom>
          <a:noFill/>
          <a:ln/>
        </p:spPr>
        <p:txBody>
          <a:bodyPr wrap="square" lIns="0" tIns="0" rIns="0" bIns="0" rtlCol="0" anchor="t"/>
          <a:lstStyle/>
          <a:p>
            <a:pPr indent="0" marL="0">
              <a:buNone/>
            </a:pPr>
            <a:r>
              <a:rPr lang="en-US" sz="1800" b="1" dirty="0">
                <a:solidFill>
                  <a:schemeClr val="tx2"/>
                </a:solidFill>
              </a:rPr>
              <a:t>Smazy sorts every file</a:t>
            </a:r>
            <a:endParaRPr lang="en-US" sz="1800" dirty="0"/>
          </a:p>
        </p:txBody>
      </p:sp>
      <p:sp>
        <p:nvSpPr>
          <p:cNvPr id="12" name="Step 2 text"/>
          <p:cNvSpPr txBox="1"/>
          <p:nvPr/>
        </p:nvSpPr>
        <p:spPr>
          <a:xfrm>
            <a:off x="1234440" y="3136392"/>
            <a:ext cx="4480560" cy="566928"/>
          </a:xfrm>
          <a:prstGeom prst="rect">
            <a:avLst/>
          </a:prstGeom>
          <a:noFill/>
          <a:ln/>
        </p:spPr>
        <p:txBody>
          <a:bodyPr wrap="square" lIns="0" tIns="0" rIns="0" bIns="0" rtlCol="0" anchor="t"/>
          <a:lstStyle/>
          <a:p>
            <a:pPr indent="0" marL="0">
              <a:buNone/>
            </a:pPr>
            <a:r>
              <a:rPr lang="en-US" sz="1400" dirty="0">
                <a:solidFill>
                  <a:schemeClr val="tx1"/>
                </a:solidFill>
              </a:rPr>
              <a:t>Learn: lectures, in order. Course Info: syllabus, homework, guidelines, rubric, readings, books.</a:t>
            </a:r>
            <a:endParaRPr lang="en-US" sz="1400" dirty="0"/>
          </a:p>
        </p:txBody>
      </p:sp>
      <p:sp>
        <p:nvSpPr>
          <p:cNvPr id="13" name="Step 3 circle"/>
          <p:cNvSpPr/>
          <p:nvPr/>
        </p:nvSpPr>
        <p:spPr>
          <a:xfrm>
            <a:off x="548640" y="3831336"/>
            <a:ext cx="475488" cy="475488"/>
          </a:xfrm>
          <a:prstGeom prst="ellipse">
            <a:avLst/>
          </a:prstGeom>
          <a:solidFill>
            <a:schemeClr val="accent1"/>
          </a:solidFill>
          <a:ln w="12700">
            <a:solidFill>
              <a:schemeClr val="accent1"/>
            </a:solidFill>
            <a:prstDash val="solid"/>
          </a:ln>
        </p:spPr>
      </p:sp>
      <p:sp>
        <p:nvSpPr>
          <p:cNvPr id="14" name="Step 3 number"/>
          <p:cNvSpPr txBox="1"/>
          <p:nvPr/>
        </p:nvSpPr>
        <p:spPr>
          <a:xfrm>
            <a:off x="548640" y="3831336"/>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ing"/>
          <p:cNvSpPr txBox="1"/>
          <p:nvPr/>
        </p:nvSpPr>
        <p:spPr>
          <a:xfrm>
            <a:off x="1234440" y="3794760"/>
            <a:ext cx="4480560" cy="347472"/>
          </a:xfrm>
          <a:prstGeom prst="rect">
            <a:avLst/>
          </a:prstGeom>
          <a:noFill/>
          <a:ln/>
        </p:spPr>
        <p:txBody>
          <a:bodyPr wrap="square" lIns="0" tIns="0" rIns="0" bIns="0" rtlCol="0" anchor="t"/>
          <a:lstStyle/>
          <a:p>
            <a:pPr indent="0" marL="0">
              <a:buNone/>
            </a:pPr>
            <a:r>
              <a:rPr lang="en-US" sz="1800" b="1" dirty="0">
                <a:solidFill>
                  <a:schemeClr val="tx2"/>
                </a:solidFill>
              </a:rPr>
              <a:t>The first lecture opens</a:t>
            </a:r>
            <a:endParaRPr lang="en-US" sz="1800" dirty="0"/>
          </a:p>
        </p:txBody>
      </p:sp>
      <p:sp>
        <p:nvSpPr>
          <p:cNvPr id="16" name="Step 3 text"/>
          <p:cNvSpPr txBox="1"/>
          <p:nvPr/>
        </p:nvSpPr>
        <p:spPr>
          <a:xfrm>
            <a:off x="1234440" y="4160520"/>
            <a:ext cx="4480560" cy="566928"/>
          </a:xfrm>
          <a:prstGeom prst="rect">
            <a:avLst/>
          </a:prstGeom>
          <a:noFill/>
          <a:ln/>
        </p:spPr>
        <p:txBody>
          <a:bodyPr wrap="square" lIns="0" tIns="0" rIns="0" bIns="0" rtlCol="0" anchor="t"/>
          <a:lstStyle/>
          <a:p>
            <a:pPr indent="0" marL="0">
              <a:buNone/>
            </a:pPr>
            <a:r>
              <a:rPr lang="en-US" sz="1400" dirty="0">
                <a:solidFill>
                  <a:schemeClr val="tx1"/>
                </a:solidFill>
              </a:rPr>
              <a:t>Read from names like Lecture 01, Week 1 or L1. If unsure, it asks.</a:t>
            </a:r>
            <a:endParaRPr lang="en-US" sz="1400" dirty="0"/>
          </a:p>
        </p:txBody>
      </p:sp>
      <p:sp>
        <p:nvSpPr>
          <p:cNvPr id="17" name="Step 4 circle"/>
          <p:cNvSpPr/>
          <p:nvPr/>
        </p:nvSpPr>
        <p:spPr>
          <a:xfrm>
            <a:off x="548640" y="4855464"/>
            <a:ext cx="475488" cy="475488"/>
          </a:xfrm>
          <a:prstGeom prst="ellipse">
            <a:avLst/>
          </a:prstGeom>
          <a:solidFill>
            <a:schemeClr val="tx2"/>
          </a:solidFill>
          <a:ln w="12700">
            <a:solidFill>
              <a:schemeClr val="tx2"/>
            </a:solidFill>
            <a:prstDash val="solid"/>
          </a:ln>
        </p:spPr>
      </p:sp>
      <p:sp>
        <p:nvSpPr>
          <p:cNvPr id="18" name="Step 4 number"/>
          <p:cNvSpPr txBox="1"/>
          <p:nvPr/>
        </p:nvSpPr>
        <p:spPr>
          <a:xfrm>
            <a:off x="548640" y="4855464"/>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Step 4 heading"/>
          <p:cNvSpPr txBox="1"/>
          <p:nvPr/>
        </p:nvSpPr>
        <p:spPr>
          <a:xfrm>
            <a:off x="1234440" y="4818888"/>
            <a:ext cx="4480560" cy="347472"/>
          </a:xfrm>
          <a:prstGeom prst="rect">
            <a:avLst/>
          </a:prstGeom>
          <a:noFill/>
          <a:ln/>
        </p:spPr>
        <p:txBody>
          <a:bodyPr wrap="square" lIns="0" tIns="0" rIns="0" bIns="0" rtlCol="0" anchor="t"/>
          <a:lstStyle/>
          <a:p>
            <a:pPr indent="0" marL="0">
              <a:buNone/>
            </a:pPr>
            <a:r>
              <a:rPr lang="en-US" sz="1800" b="1" dirty="0">
                <a:solidFill>
                  <a:schemeClr val="tx2"/>
                </a:solidFill>
              </a:rPr>
              <a:t>Everything lives on the slide</a:t>
            </a:r>
            <a:endParaRPr lang="en-US" sz="1800" dirty="0"/>
          </a:p>
        </p:txBody>
      </p:sp>
      <p:sp>
        <p:nvSpPr>
          <p:cNvPr id="20" name="Step 4 text"/>
          <p:cNvSpPr txBox="1"/>
          <p:nvPr/>
        </p:nvSpPr>
        <p:spPr>
          <a:xfrm>
            <a:off x="1234440" y="5184648"/>
            <a:ext cx="4480560" cy="566928"/>
          </a:xfrm>
          <a:prstGeom prst="rect">
            <a:avLst/>
          </a:prstGeom>
          <a:noFill/>
          <a:ln/>
        </p:spPr>
        <p:txBody>
          <a:bodyPr wrap="square" lIns="0" tIns="0" rIns="0" bIns="0" rtlCol="0" anchor="t"/>
          <a:lstStyle/>
          <a:p>
            <a:pPr indent="0" marL="0">
              <a:buNone/>
            </a:pPr>
            <a:r>
              <a:rPr lang="en-US" sz="1400" dirty="0">
                <a:solidFill>
                  <a:schemeClr val="tx1"/>
                </a:solidFill>
              </a:rPr>
              <a:t>Your Study Partner, notes, links and even the web. No new tabs.</a:t>
            </a:r>
            <a:endParaRPr lang="en-US" sz="1400" dirty="0"/>
          </a:p>
        </p:txBody>
      </p:sp>
      <p:sp>
        <p:nvSpPr>
          <p:cNvPr id="21" name="Sorting screenshot frame"/>
          <p:cNvSpPr/>
          <p:nvPr/>
        </p:nvSpPr>
        <p:spPr>
          <a:xfrm>
            <a:off x="6117336" y="1755648"/>
            <a:ext cx="5550408" cy="2057400"/>
          </a:xfrm>
          <a:prstGeom prst="roundRect">
            <a:avLst>
              <a:gd name="adj" fmla="val 3556"/>
            </a:avLst>
          </a:prstGeom>
          <a:solidFill>
            <a:schemeClr val="bg1"/>
          </a:solidFill>
          <a:ln w="9525">
            <a:solidFill>
              <a:srgbClr val="D9D4CA"/>
            </a:solidFill>
            <a:prstDash val="solid"/>
          </a:ln>
          <a:effectLst>
            <a:outerShdw sx="100000" sy="100000" kx="0" ky="0" algn="bl" rotWithShape="0" blurRad="177800" dist="50800" dir="5400000">
              <a:srgbClr val="193B5A">
                <a:alpha val="18000"/>
              </a:srgbClr>
            </a:outerShdw>
          </a:effectLst>
        </p:spPr>
      </p:sp>
      <p:pic>
        <p:nvPicPr>
          <p:cNvPr id="22" name="Sorting screenshot" descr="img/sorting.png">    </p:cNvPr>
          <p:cNvPicPr>
            <a:picLocks noChangeAspect="1"/>
          </p:cNvPicPr>
          <p:nvPr/>
        </p:nvPicPr>
        <p:blipFill>
          <a:blip r:embed="rId1"/>
          <a:stretch>
            <a:fillRect/>
          </a:stretch>
        </p:blipFill>
        <p:spPr>
          <a:xfrm>
            <a:off x="6172200" y="1810512"/>
            <a:ext cx="5440680" cy="1947672"/>
          </a:xfrm>
          <a:prstGeom prst="rect">
            <a:avLst/>
          </a:prstGeom>
        </p:spPr>
      </p:pic>
      <p:sp>
        <p:nvSpPr>
          <p:cNvPr id="23" name="Sorting caption"/>
          <p:cNvSpPr txBox="1"/>
          <p:nvPr/>
        </p:nvSpPr>
        <p:spPr>
          <a:xfrm>
            <a:off x="6172200" y="3858768"/>
            <a:ext cx="5440680" cy="274320"/>
          </a:xfrm>
          <a:prstGeom prst="rect">
            <a:avLst/>
          </a:prstGeom>
          <a:noFill/>
          <a:ln/>
        </p:spPr>
        <p:txBody>
          <a:bodyPr wrap="square" lIns="0" tIns="0" rIns="0" bIns="0" rtlCol="0" anchor="t"/>
          <a:lstStyle/>
          <a:p>
            <a:pPr indent="0" marL="0">
              <a:buNone/>
            </a:pPr>
            <a:r>
              <a:rPr lang="en-US" sz="1100" i="1" dirty="0">
                <a:solidFill>
                  <a:schemeClr val="accent5"/>
                </a:solidFill>
              </a:rPr>
              <a:t>Real course folder, sorted in seconds. The first lecture is flagged and opened.</a:t>
            </a:r>
            <a:endParaRPr lang="en-US" sz="1100" dirty="0"/>
          </a:p>
        </p:txBody>
      </p:sp>
      <p:sp>
        <p:nvSpPr>
          <p:cNvPr id="24" name="Target users"/>
          <p:cNvSpPr txBox="1"/>
          <p:nvPr/>
        </p:nvSpPr>
        <p:spPr>
          <a:xfrm>
            <a:off x="6172200" y="4343400"/>
            <a:ext cx="5440680" cy="548640"/>
          </a:xfrm>
          <a:prstGeom prst="rect">
            <a:avLst/>
          </a:prstGeom>
          <a:noFill/>
          <a:ln/>
        </p:spPr>
        <p:txBody>
          <a:bodyPr wrap="square" lIns="0" tIns="0" rIns="0" bIns="0" rtlCol="0" anchor="t"/>
          <a:lstStyle/>
          <a:p>
            <a:pPr indent="0" marL="0">
              <a:buNone/>
            </a:pPr>
            <a:r>
              <a:rPr lang="en-US" sz="1500" dirty="0">
                <a:solidFill>
                  <a:schemeClr val="tx1"/>
                </a:solidFill>
              </a:rPr>
              <a:t>Built for students who are </a:t>
            </a:r>
            <a:pPr indent="0" marL="0">
              <a:buNone/>
            </a:pPr>
            <a:r>
              <a:rPr lang="en-US" sz="1500" b="1" dirty="0">
                <a:solidFill>
                  <a:schemeClr val="accent1"/>
                </a:solidFill>
              </a:rPr>
              <a:t>smart but lazy</a:t>
            </a:r>
            <a:pPr indent="0" marL="0">
              <a:buNone/>
            </a:pPr>
            <a:r>
              <a:rPr lang="en-US" sz="1500" dirty="0">
                <a:solidFill>
                  <a:schemeClr val="tx1"/>
                </a:solidFill>
              </a:rPr>
              <a:t>: they want to do well with the least friction.</a:t>
            </a:r>
            <a:endParaRPr lang="en-US" sz="1500" dirty="0"/>
          </a:p>
        </p:txBody>
      </p:sp>
      <p:sp>
        <p:nvSpPr>
          <p:cNvPr id="25" name="Principle 1 pill"/>
          <p:cNvSpPr/>
          <p:nvPr/>
        </p:nvSpPr>
        <p:spPr>
          <a:xfrm>
            <a:off x="6172200" y="5074920"/>
            <a:ext cx="1115568" cy="402336"/>
          </a:xfrm>
          <a:prstGeom prst="roundRect">
            <a:avLst>
              <a:gd name="adj" fmla="val 50000"/>
            </a:avLst>
          </a:prstGeom>
          <a:solidFill>
            <a:schemeClr val="accent6"/>
          </a:solidFill>
          <a:ln w="12700">
            <a:solidFill>
              <a:schemeClr val="accent6"/>
            </a:solidFill>
            <a:prstDash val="solid"/>
          </a:ln>
        </p:spPr>
      </p:sp>
      <p:sp>
        <p:nvSpPr>
          <p:cNvPr id="26" name="Principle 1"/>
          <p:cNvSpPr txBox="1"/>
          <p:nvPr/>
        </p:nvSpPr>
        <p:spPr>
          <a:xfrm>
            <a:off x="6172200" y="5074920"/>
            <a:ext cx="1115568" cy="402336"/>
          </a:xfrm>
          <a:prstGeom prst="rect">
            <a:avLst/>
          </a:prstGeom>
          <a:noFill/>
          <a:ln/>
        </p:spPr>
        <p:txBody>
          <a:bodyPr wrap="square" lIns="0" tIns="0" rIns="0" bIns="0" rtlCol="0" anchor="ctr"/>
          <a:lstStyle/>
          <a:p>
            <a:pPr algn="ctr" indent="0" marL="0">
              <a:buNone/>
            </a:pPr>
            <a:r>
              <a:rPr lang="en-US" sz="1300" b="1" dirty="0">
                <a:solidFill>
                  <a:schemeClr val="accent2"/>
                </a:solidFill>
              </a:rPr>
              <a:t>Simplicity</a:t>
            </a:r>
            <a:endParaRPr lang="en-US" sz="1300" dirty="0"/>
          </a:p>
        </p:txBody>
      </p:sp>
      <p:sp>
        <p:nvSpPr>
          <p:cNvPr id="27" name="Principle 2 pill"/>
          <p:cNvSpPr/>
          <p:nvPr/>
        </p:nvSpPr>
        <p:spPr>
          <a:xfrm>
            <a:off x="7379208" y="5074920"/>
            <a:ext cx="1207008" cy="402336"/>
          </a:xfrm>
          <a:prstGeom prst="roundRect">
            <a:avLst>
              <a:gd name="adj" fmla="val 50000"/>
            </a:avLst>
          </a:prstGeom>
          <a:solidFill>
            <a:schemeClr val="accent6"/>
          </a:solidFill>
          <a:ln w="12700">
            <a:solidFill>
              <a:schemeClr val="accent6"/>
            </a:solidFill>
            <a:prstDash val="solid"/>
          </a:ln>
        </p:spPr>
      </p:sp>
      <p:sp>
        <p:nvSpPr>
          <p:cNvPr id="28" name="Principle 2"/>
          <p:cNvSpPr txBox="1"/>
          <p:nvPr/>
        </p:nvSpPr>
        <p:spPr>
          <a:xfrm>
            <a:off x="7379208" y="5074920"/>
            <a:ext cx="1207008" cy="402336"/>
          </a:xfrm>
          <a:prstGeom prst="rect">
            <a:avLst/>
          </a:prstGeom>
          <a:noFill/>
          <a:ln/>
        </p:spPr>
        <p:txBody>
          <a:bodyPr wrap="square" lIns="0" tIns="0" rIns="0" bIns="0" rtlCol="0" anchor="ctr"/>
          <a:lstStyle/>
          <a:p>
            <a:pPr algn="ctr" indent="0" marL="0">
              <a:buNone/>
            </a:pPr>
            <a:r>
              <a:rPr lang="en-US" sz="1300" b="1" dirty="0">
                <a:solidFill>
                  <a:schemeClr val="accent2"/>
                </a:solidFill>
              </a:rPr>
              <a:t>Orderliness</a:t>
            </a:r>
            <a:endParaRPr lang="en-US" sz="1300" dirty="0"/>
          </a:p>
        </p:txBody>
      </p:sp>
      <p:sp>
        <p:nvSpPr>
          <p:cNvPr id="29" name="Principle 3 pill"/>
          <p:cNvSpPr/>
          <p:nvPr/>
        </p:nvSpPr>
        <p:spPr>
          <a:xfrm>
            <a:off x="8677656" y="5074920"/>
            <a:ext cx="1051560" cy="402336"/>
          </a:xfrm>
          <a:prstGeom prst="roundRect">
            <a:avLst>
              <a:gd name="adj" fmla="val 50000"/>
            </a:avLst>
          </a:prstGeom>
          <a:solidFill>
            <a:schemeClr val="accent6"/>
          </a:solidFill>
          <a:ln w="12700">
            <a:solidFill>
              <a:schemeClr val="accent6"/>
            </a:solidFill>
            <a:prstDash val="solid"/>
          </a:ln>
        </p:spPr>
      </p:sp>
      <p:sp>
        <p:nvSpPr>
          <p:cNvPr id="30" name="Principle 3"/>
          <p:cNvSpPr txBox="1"/>
          <p:nvPr/>
        </p:nvSpPr>
        <p:spPr>
          <a:xfrm>
            <a:off x="8677656" y="5074920"/>
            <a:ext cx="1051560" cy="402336"/>
          </a:xfrm>
          <a:prstGeom prst="rect">
            <a:avLst/>
          </a:prstGeom>
          <a:noFill/>
          <a:ln/>
        </p:spPr>
        <p:txBody>
          <a:bodyPr wrap="square" lIns="0" tIns="0" rIns="0" bIns="0" rtlCol="0" anchor="ctr"/>
          <a:lstStyle/>
          <a:p>
            <a:pPr algn="ctr" indent="0" marL="0">
              <a:buNone/>
            </a:pPr>
            <a:r>
              <a:rPr lang="en-US" sz="1300" b="1" dirty="0">
                <a:solidFill>
                  <a:schemeClr val="accent2"/>
                </a:solidFill>
              </a:rPr>
              <a:t>Flow state</a:t>
            </a:r>
            <a:endParaRPr lang="en-US" sz="1300" dirty="0"/>
          </a:p>
        </p:txBody>
      </p:sp>
      <p:sp>
        <p:nvSpPr>
          <p:cNvPr id="31" name="Principle 4 pill"/>
          <p:cNvSpPr/>
          <p:nvPr/>
        </p:nvSpPr>
        <p:spPr>
          <a:xfrm>
            <a:off x="9820656" y="5074920"/>
            <a:ext cx="1737360" cy="402336"/>
          </a:xfrm>
          <a:prstGeom prst="roundRect">
            <a:avLst>
              <a:gd name="adj" fmla="val 50000"/>
            </a:avLst>
          </a:prstGeom>
          <a:solidFill>
            <a:schemeClr val="accent6"/>
          </a:solidFill>
          <a:ln w="12700">
            <a:solidFill>
              <a:schemeClr val="accent6"/>
            </a:solidFill>
            <a:prstDash val="solid"/>
          </a:ln>
        </p:spPr>
      </p:sp>
      <p:sp>
        <p:nvSpPr>
          <p:cNvPr id="32" name="Principle 4"/>
          <p:cNvSpPr txBox="1"/>
          <p:nvPr/>
        </p:nvSpPr>
        <p:spPr>
          <a:xfrm>
            <a:off x="9820656" y="5074920"/>
            <a:ext cx="1737360" cy="402336"/>
          </a:xfrm>
          <a:prstGeom prst="rect">
            <a:avLst/>
          </a:prstGeom>
          <a:noFill/>
          <a:ln/>
        </p:spPr>
        <p:txBody>
          <a:bodyPr wrap="square" lIns="0" tIns="0" rIns="0" bIns="0" rtlCol="0" anchor="ctr"/>
          <a:lstStyle/>
          <a:p>
            <a:pPr algn="ctr" indent="0" marL="0">
              <a:buNone/>
            </a:pPr>
            <a:r>
              <a:rPr lang="en-US" sz="1300" b="1" dirty="0">
                <a:solidFill>
                  <a:schemeClr val="accent2"/>
                </a:solidFill>
              </a:rPr>
              <a:t>Learning momentum</a:t>
            </a:r>
            <a:endParaRPr lang="en-US" sz="1300" dirty="0"/>
          </a:p>
        </p:txBody>
      </p:sp>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WHY IT MATTERS  ·  UN SUSTAINABLE DEVELOPMENT GOAL 4</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Quality education now means less distraction and burnout</a:t>
            </a:r>
            <a:endParaRPr lang="en-US" sz="3200" dirty="0"/>
          </a:p>
        </p:txBody>
      </p:sp>
      <p:sp>
        <p:nvSpPr>
          <p:cNvPr id="5" name="SDG 4 badge"/>
          <p:cNvSpPr/>
          <p:nvPr/>
        </p:nvSpPr>
        <p:spPr>
          <a:xfrm>
            <a:off x="548640" y="1783080"/>
            <a:ext cx="2331720" cy="2331720"/>
          </a:xfrm>
          <a:prstGeom prst="roundRect">
            <a:avLst>
              <a:gd name="adj" fmla="val 3922"/>
            </a:avLst>
          </a:prstGeom>
          <a:solidFill>
            <a:srgbClr val="C5192D"/>
          </a:solidFill>
          <a:ln w="12700">
            <a:solidFill>
              <a:srgbClr val="C5192D"/>
            </a:solidFill>
            <a:prstDash val="solid"/>
          </a:ln>
        </p:spPr>
      </p:sp>
      <p:sp>
        <p:nvSpPr>
          <p:cNvPr id="6" name="SDG number"/>
          <p:cNvSpPr txBox="1"/>
          <p:nvPr/>
        </p:nvSpPr>
        <p:spPr>
          <a:xfrm>
            <a:off x="731520" y="1874520"/>
            <a:ext cx="914400" cy="914400"/>
          </a:xfrm>
          <a:prstGeom prst="rect">
            <a:avLst/>
          </a:prstGeom>
          <a:noFill/>
          <a:ln/>
        </p:spPr>
        <p:txBody>
          <a:bodyPr wrap="square" lIns="0" tIns="0" rIns="0" bIns="0" rtlCol="0" anchor="ctr"/>
          <a:lstStyle/>
          <a:p>
            <a:pPr indent="0" marL="0">
              <a:buNone/>
            </a:pPr>
            <a:r>
              <a:rPr lang="en-US" sz="6000" b="1" dirty="0">
                <a:solidFill>
                  <a:schemeClr val="bg1"/>
                </a:solidFill>
              </a:rPr>
              <a:t>4</a:t>
            </a:r>
            <a:endParaRPr lang="en-US" sz="6000" dirty="0"/>
          </a:p>
        </p:txBody>
      </p:sp>
      <p:sp>
        <p:nvSpPr>
          <p:cNvPr id="7" name="SDG name"/>
          <p:cNvSpPr txBox="1"/>
          <p:nvPr/>
        </p:nvSpPr>
        <p:spPr>
          <a:xfrm>
            <a:off x="731520" y="2880360"/>
            <a:ext cx="2011680" cy="685800"/>
          </a:xfrm>
          <a:prstGeom prst="rect">
            <a:avLst/>
          </a:prstGeom>
          <a:noFill/>
          <a:ln/>
        </p:spPr>
        <p:txBody>
          <a:bodyPr wrap="square" lIns="0" tIns="0" rIns="0" bIns="0" rtlCol="0" anchor="t"/>
          <a:lstStyle/>
          <a:p>
            <a:pPr indent="0" marL="0">
              <a:buNone/>
            </a:pPr>
            <a:r>
              <a:rPr lang="en-US" sz="1800" b="1" dirty="0">
                <a:solidFill>
                  <a:schemeClr val="bg1"/>
                </a:solidFill>
              </a:rPr>
              <a:t>QUALITY</a:t>
            </a:r>
            <a:endParaRPr lang="en-US" sz="1800" dirty="0"/>
          </a:p>
          <a:p>
            <a:pPr indent="0" marL="0">
              <a:buNone/>
            </a:pPr>
            <a:r>
              <a:rPr lang="en-US" sz="1800" b="1" dirty="0">
                <a:solidFill>
                  <a:schemeClr val="bg1"/>
                </a:solidFill>
              </a:rPr>
              <a:t>EDUCATION</a:t>
            </a:r>
            <a:endParaRPr lang="en-US" sz="1800" dirty="0"/>
          </a:p>
        </p:txBody>
      </p:sp>
      <p:pic>
        <p:nvPicPr>
          <p:cNvPr id="8" name="SDG icon" descr="preencoded.png">    </p:cNvPr>
          <p:cNvPicPr>
            <a:picLocks noChangeAspect="1"/>
          </p:cNvPicPr>
          <p:nvPr/>
        </p:nvPicPr>
        <p:blipFill>
          <a:blip r:embed="rId1"/>
          <a:stretch>
            <a:fillRect/>
          </a:stretch>
        </p:blipFill>
        <p:spPr>
          <a:xfrm>
            <a:off x="2148840" y="2011680"/>
            <a:ext cx="548640" cy="548640"/>
          </a:xfrm>
          <a:prstGeom prst="rect">
            <a:avLst/>
          </a:prstGeom>
        </p:spPr>
      </p:pic>
      <p:sp>
        <p:nvSpPr>
          <p:cNvPr id="9" name="SDG intro"/>
          <p:cNvSpPr txBox="1"/>
          <p:nvPr/>
        </p:nvSpPr>
        <p:spPr>
          <a:xfrm>
            <a:off x="548640" y="4343400"/>
            <a:ext cx="2331720" cy="1463040"/>
          </a:xfrm>
          <a:prstGeom prst="rect">
            <a:avLst/>
          </a:prstGeom>
          <a:noFill/>
          <a:ln/>
        </p:spPr>
        <p:txBody>
          <a:bodyPr wrap="square" lIns="0" tIns="0" rIns="0" bIns="0" rtlCol="0" anchor="t"/>
          <a:lstStyle/>
          <a:p>
            <a:pPr indent="0" marL="0">
              <a:buNone/>
            </a:pPr>
            <a:r>
              <a:rPr lang="en-US" sz="1400" i="1" dirty="0">
                <a:solidFill>
                  <a:schemeClr val="tx2"/>
                </a:solidFill>
              </a:rPr>
              <a:t>We usually think of schools and books. Today’s students face a new problem: too much distraction, and feeling very tired.</a:t>
            </a:r>
            <a:endParaRPr lang="en-US" sz="1400" dirty="0"/>
          </a:p>
        </p:txBody>
      </p:sp>
      <p:sp>
        <p:nvSpPr>
          <p:cNvPr id="10" name="SDG way card 1"/>
          <p:cNvSpPr/>
          <p:nvPr/>
        </p:nvSpPr>
        <p:spPr>
          <a:xfrm>
            <a:off x="3246120" y="1783080"/>
            <a:ext cx="8366760" cy="1143000"/>
          </a:xfrm>
          <a:prstGeom prst="roundRect">
            <a:avLst>
              <a:gd name="adj" fmla="val 8000"/>
            </a:avLst>
          </a:prstGeom>
          <a:solidFill>
            <a:schemeClr val="bg2"/>
          </a:solidFill>
          <a:ln w="12700">
            <a:solidFill>
              <a:schemeClr val="bg2"/>
            </a:solidFill>
            <a:prstDash val="solid"/>
          </a:ln>
        </p:spPr>
      </p:sp>
      <p:sp>
        <p:nvSpPr>
          <p:cNvPr id="11" name="SDG way icon 1 circle"/>
          <p:cNvSpPr/>
          <p:nvPr/>
        </p:nvSpPr>
        <p:spPr>
          <a:xfrm>
            <a:off x="3474720" y="2048256"/>
            <a:ext cx="603504" cy="603504"/>
          </a:xfrm>
          <a:prstGeom prst="ellipse">
            <a:avLst/>
          </a:prstGeom>
          <a:solidFill>
            <a:schemeClr val="accent1"/>
          </a:solidFill>
          <a:ln w="12700">
            <a:solidFill>
              <a:schemeClr val="accent1"/>
            </a:solidFill>
            <a:prstDash val="solid"/>
          </a:ln>
        </p:spPr>
      </p:sp>
      <p:pic>
        <p:nvPicPr>
          <p:cNvPr id="12" name="SDG way icon 1" descr="preencoded.png">    </p:cNvPr>
          <p:cNvPicPr>
            <a:picLocks noChangeAspect="1"/>
          </p:cNvPicPr>
          <p:nvPr/>
        </p:nvPicPr>
        <p:blipFill>
          <a:blip r:embed="rId2"/>
          <a:stretch>
            <a:fillRect/>
          </a:stretch>
        </p:blipFill>
        <p:spPr>
          <a:xfrm>
            <a:off x="3637666" y="2211202"/>
            <a:ext cx="277612" cy="277612"/>
          </a:xfrm>
          <a:prstGeom prst="rect">
            <a:avLst/>
          </a:prstGeom>
        </p:spPr>
      </p:pic>
      <p:sp>
        <p:nvSpPr>
          <p:cNvPr id="13" name="SDG way heading 1"/>
          <p:cNvSpPr txBox="1"/>
          <p:nvPr/>
        </p:nvSpPr>
        <p:spPr>
          <a:xfrm>
            <a:off x="4297680" y="1920240"/>
            <a:ext cx="7132320" cy="347472"/>
          </a:xfrm>
          <a:prstGeom prst="rect">
            <a:avLst/>
          </a:prstGeom>
          <a:noFill/>
          <a:ln/>
        </p:spPr>
        <p:txBody>
          <a:bodyPr wrap="square" lIns="0" tIns="0" rIns="0" bIns="0" rtlCol="0" anchor="t"/>
          <a:lstStyle/>
          <a:p>
            <a:pPr indent="0" marL="0">
              <a:buNone/>
            </a:pPr>
            <a:r>
              <a:rPr lang="en-US" sz="1800" b="1" dirty="0">
                <a:solidFill>
                  <a:schemeClr val="tx2"/>
                </a:solidFill>
              </a:rPr>
              <a:t>Fairness for everyone</a:t>
            </a:r>
            <a:endParaRPr lang="en-US" sz="1800" dirty="0"/>
          </a:p>
        </p:txBody>
      </p:sp>
      <p:sp>
        <p:nvSpPr>
          <p:cNvPr id="14" name="SDG way text 1"/>
          <p:cNvSpPr txBox="1"/>
          <p:nvPr/>
        </p:nvSpPr>
        <p:spPr>
          <a:xfrm>
            <a:off x="4297680" y="2267712"/>
            <a:ext cx="7132320" cy="603504"/>
          </a:xfrm>
          <a:prstGeom prst="rect">
            <a:avLst/>
          </a:prstGeom>
          <a:noFill/>
          <a:ln/>
        </p:spPr>
        <p:txBody>
          <a:bodyPr wrap="square" lIns="0" tIns="0" rIns="0" bIns="0" rtlCol="0" anchor="t"/>
          <a:lstStyle/>
          <a:p>
            <a:pPr indent="0" marL="0">
              <a:buNone/>
            </a:pPr>
            <a:r>
              <a:rPr lang="en-US" sz="1400" dirty="0">
                <a:solidFill>
                  <a:schemeClr val="tx1"/>
                </a:solidFill>
              </a:rPr>
              <a:t>Too many tabs and messy files tire students out before they even start. Smazy organizes everything, so everyone gets an equal chance to learn.</a:t>
            </a:r>
            <a:endParaRPr lang="en-US" sz="1400" dirty="0"/>
          </a:p>
        </p:txBody>
      </p:sp>
      <p:sp>
        <p:nvSpPr>
          <p:cNvPr id="15" name="SDG way card 2"/>
          <p:cNvSpPr/>
          <p:nvPr/>
        </p:nvSpPr>
        <p:spPr>
          <a:xfrm>
            <a:off x="3246120" y="3108960"/>
            <a:ext cx="8366760" cy="1143000"/>
          </a:xfrm>
          <a:prstGeom prst="roundRect">
            <a:avLst>
              <a:gd name="adj" fmla="val 8000"/>
            </a:avLst>
          </a:prstGeom>
          <a:solidFill>
            <a:schemeClr val="bg2"/>
          </a:solidFill>
          <a:ln w="12700">
            <a:solidFill>
              <a:schemeClr val="bg2"/>
            </a:solidFill>
            <a:prstDash val="solid"/>
          </a:ln>
        </p:spPr>
      </p:sp>
      <p:sp>
        <p:nvSpPr>
          <p:cNvPr id="16" name="SDG way icon 2 circle"/>
          <p:cNvSpPr/>
          <p:nvPr/>
        </p:nvSpPr>
        <p:spPr>
          <a:xfrm>
            <a:off x="3474720" y="3374136"/>
            <a:ext cx="603504" cy="603504"/>
          </a:xfrm>
          <a:prstGeom prst="ellipse">
            <a:avLst/>
          </a:prstGeom>
          <a:solidFill>
            <a:schemeClr val="accent1"/>
          </a:solidFill>
          <a:ln w="12700">
            <a:solidFill>
              <a:schemeClr val="accent1"/>
            </a:solidFill>
            <a:prstDash val="solid"/>
          </a:ln>
        </p:spPr>
      </p:sp>
      <p:pic>
        <p:nvPicPr>
          <p:cNvPr id="17" name="SDG way icon 2" descr="preencoded.png">    </p:cNvPr>
          <p:cNvPicPr>
            <a:picLocks noChangeAspect="1"/>
          </p:cNvPicPr>
          <p:nvPr/>
        </p:nvPicPr>
        <p:blipFill>
          <a:blip r:embed="rId3"/>
          <a:stretch>
            <a:fillRect/>
          </a:stretch>
        </p:blipFill>
        <p:spPr>
          <a:xfrm>
            <a:off x="3637666" y="3537082"/>
            <a:ext cx="277612" cy="277612"/>
          </a:xfrm>
          <a:prstGeom prst="rect">
            <a:avLst/>
          </a:prstGeom>
        </p:spPr>
      </p:pic>
      <p:sp>
        <p:nvSpPr>
          <p:cNvPr id="18" name="SDG way heading 2"/>
          <p:cNvSpPr txBox="1"/>
          <p:nvPr/>
        </p:nvSpPr>
        <p:spPr>
          <a:xfrm>
            <a:off x="4297680" y="3246120"/>
            <a:ext cx="7132320" cy="347472"/>
          </a:xfrm>
          <a:prstGeom prst="rect">
            <a:avLst/>
          </a:prstGeom>
          <a:noFill/>
          <a:ln/>
        </p:spPr>
        <p:txBody>
          <a:bodyPr wrap="square" lIns="0" tIns="0" rIns="0" bIns="0" rtlCol="0" anchor="t"/>
          <a:lstStyle/>
          <a:p>
            <a:pPr indent="0" marL="0">
              <a:buNone/>
            </a:pPr>
            <a:r>
              <a:rPr lang="en-US" sz="1800" b="1" dirty="0">
                <a:solidFill>
                  <a:schemeClr val="tx2"/>
                </a:solidFill>
              </a:rPr>
              <a:t>Helping every mind</a:t>
            </a:r>
            <a:endParaRPr lang="en-US" sz="1800" dirty="0"/>
          </a:p>
        </p:txBody>
      </p:sp>
      <p:sp>
        <p:nvSpPr>
          <p:cNvPr id="19" name="SDG way text 2"/>
          <p:cNvSpPr txBox="1"/>
          <p:nvPr/>
        </p:nvSpPr>
        <p:spPr>
          <a:xfrm>
            <a:off x="4297680" y="3593592"/>
            <a:ext cx="7132320" cy="603504"/>
          </a:xfrm>
          <a:prstGeom prst="rect">
            <a:avLst/>
          </a:prstGeom>
          <a:noFill/>
          <a:ln/>
        </p:spPr>
        <p:txBody>
          <a:bodyPr wrap="square" lIns="0" tIns="0" rIns="0" bIns="0" rtlCol="0" anchor="t"/>
          <a:lstStyle/>
          <a:p>
            <a:pPr indent="0" marL="0">
              <a:buNone/>
            </a:pPr>
            <a:r>
              <a:rPr lang="en-US" sz="1400" dirty="0">
                <a:solidFill>
                  <a:schemeClr val="tx1"/>
                </a:solidFill>
              </a:rPr>
              <a:t>Every student learns differently. Students with ADHD often struggle to stay focused on long, plain pages. Smazy breaks information into clear, bite-sized pieces.</a:t>
            </a:r>
            <a:endParaRPr lang="en-US" sz="1400" dirty="0"/>
          </a:p>
        </p:txBody>
      </p:sp>
      <p:sp>
        <p:nvSpPr>
          <p:cNvPr id="20" name="SDG way card 3"/>
          <p:cNvSpPr/>
          <p:nvPr/>
        </p:nvSpPr>
        <p:spPr>
          <a:xfrm>
            <a:off x="3246120" y="4434840"/>
            <a:ext cx="8366760" cy="1143000"/>
          </a:xfrm>
          <a:prstGeom prst="roundRect">
            <a:avLst>
              <a:gd name="adj" fmla="val 8000"/>
            </a:avLst>
          </a:prstGeom>
          <a:solidFill>
            <a:schemeClr val="bg2"/>
          </a:solidFill>
          <a:ln w="12700">
            <a:solidFill>
              <a:schemeClr val="bg2"/>
            </a:solidFill>
            <a:prstDash val="solid"/>
          </a:ln>
        </p:spPr>
      </p:sp>
      <p:sp>
        <p:nvSpPr>
          <p:cNvPr id="21" name="SDG way icon 3 circle"/>
          <p:cNvSpPr/>
          <p:nvPr/>
        </p:nvSpPr>
        <p:spPr>
          <a:xfrm>
            <a:off x="3474720" y="4700016"/>
            <a:ext cx="603504" cy="603504"/>
          </a:xfrm>
          <a:prstGeom prst="ellipse">
            <a:avLst/>
          </a:prstGeom>
          <a:solidFill>
            <a:schemeClr val="accent1"/>
          </a:solidFill>
          <a:ln w="12700">
            <a:solidFill>
              <a:schemeClr val="accent1"/>
            </a:solidFill>
            <a:prstDash val="solid"/>
          </a:ln>
        </p:spPr>
      </p:sp>
      <p:pic>
        <p:nvPicPr>
          <p:cNvPr id="22" name="SDG way icon 3" descr="preencoded.png">    </p:cNvPr>
          <p:cNvPicPr>
            <a:picLocks noChangeAspect="1"/>
          </p:cNvPicPr>
          <p:nvPr/>
        </p:nvPicPr>
        <p:blipFill>
          <a:blip r:embed="rId4"/>
          <a:stretch>
            <a:fillRect/>
          </a:stretch>
        </p:blipFill>
        <p:spPr>
          <a:xfrm>
            <a:off x="3637666" y="4862962"/>
            <a:ext cx="277612" cy="277612"/>
          </a:xfrm>
          <a:prstGeom prst="rect">
            <a:avLst/>
          </a:prstGeom>
        </p:spPr>
      </p:pic>
      <p:sp>
        <p:nvSpPr>
          <p:cNvPr id="23" name="SDG way heading 3"/>
          <p:cNvSpPr txBox="1"/>
          <p:nvPr/>
        </p:nvSpPr>
        <p:spPr>
          <a:xfrm>
            <a:off x="4297680" y="4572000"/>
            <a:ext cx="7132320" cy="347472"/>
          </a:xfrm>
          <a:prstGeom prst="rect">
            <a:avLst/>
          </a:prstGeom>
          <a:noFill/>
          <a:ln/>
        </p:spPr>
        <p:txBody>
          <a:bodyPr wrap="square" lIns="0" tIns="0" rIns="0" bIns="0" rtlCol="0" anchor="t"/>
          <a:lstStyle/>
          <a:p>
            <a:pPr indent="0" marL="0">
              <a:buNone/>
            </a:pPr>
            <a:r>
              <a:rPr lang="en-US" sz="1800" b="1" dirty="0">
                <a:solidFill>
                  <a:schemeClr val="tx2"/>
                </a:solidFill>
              </a:rPr>
              <a:t>Protecting mental health</a:t>
            </a:r>
            <a:endParaRPr lang="en-US" sz="1800" dirty="0"/>
          </a:p>
        </p:txBody>
      </p:sp>
      <p:sp>
        <p:nvSpPr>
          <p:cNvPr id="24" name="SDG way text 3"/>
          <p:cNvSpPr txBox="1"/>
          <p:nvPr/>
        </p:nvSpPr>
        <p:spPr>
          <a:xfrm>
            <a:off x="4297680" y="4919472"/>
            <a:ext cx="7132320" cy="603504"/>
          </a:xfrm>
          <a:prstGeom prst="rect">
            <a:avLst/>
          </a:prstGeom>
          <a:noFill/>
          <a:ln/>
        </p:spPr>
        <p:txBody>
          <a:bodyPr wrap="square" lIns="0" tIns="0" rIns="0" bIns="0" rtlCol="0" anchor="t"/>
          <a:lstStyle/>
          <a:p>
            <a:pPr indent="0" marL="0">
              <a:buNone/>
            </a:pPr>
            <a:r>
              <a:rPr lang="en-US" sz="1400" dirty="0">
                <a:solidFill>
                  <a:schemeClr val="tx1"/>
                </a:solidFill>
              </a:rPr>
              <a:t>Focusing with too many windows open is stressful. Smazy keeps things simple, so students can stay calm.</a:t>
            </a:r>
            <a:endParaRPr lang="en-US" sz="1400" dirty="0"/>
          </a:p>
        </p:txBody>
      </p:sp>
      <p:sp>
        <p:nvSpPr>
          <p:cNvPr id="25" name="SDG takeaway"/>
          <p:cNvSpPr txBox="1"/>
          <p:nvPr/>
        </p:nvSpPr>
        <p:spPr>
          <a:xfrm>
            <a:off x="3246120" y="5669280"/>
            <a:ext cx="8366760" cy="411480"/>
          </a:xfrm>
          <a:prstGeom prst="rect">
            <a:avLst/>
          </a:prstGeom>
          <a:noFill/>
          <a:ln/>
        </p:spPr>
        <p:txBody>
          <a:bodyPr wrap="square" lIns="0" tIns="0" rIns="0" bIns="0" rtlCol="0" anchor="ctr"/>
          <a:lstStyle/>
          <a:p>
            <a:pPr indent="0" marL="0">
              <a:buNone/>
            </a:pPr>
            <a:r>
              <a:rPr lang="en-US" sz="1700" b="1" dirty="0">
                <a:solidFill>
                  <a:schemeClr val="tx2"/>
                </a:solidFill>
              </a:rPr>
              <a:t>Good education isn’t staying up all night. </a:t>
            </a:r>
            <a:pPr indent="0" marL="0">
              <a:buNone/>
            </a:pPr>
            <a:r>
              <a:rPr lang="en-US" sz="1700" i="1" dirty="0">
                <a:solidFill>
                  <a:schemeClr val="accent1"/>
                </a:solidFill>
              </a:rPr>
              <a:t>It’s learning well without burning out.</a:t>
            </a:r>
            <a:endParaRPr lang="en-US" sz="1700" dirty="0"/>
          </a:p>
        </p:txBody>
      </p:sp>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FEATURE 1  ·  STUDY PARTNER</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A companion that studies beside you, not a chatbot</a:t>
            </a:r>
            <a:endParaRPr lang="en-US" sz="3200" dirty="0"/>
          </a:p>
        </p:txBody>
      </p:sp>
      <p:sp>
        <p:nvSpPr>
          <p:cNvPr id="5" name="Companion icon 1 circle"/>
          <p:cNvSpPr/>
          <p:nvPr/>
        </p:nvSpPr>
        <p:spPr>
          <a:xfrm>
            <a:off x="548640" y="1783080"/>
            <a:ext cx="566928" cy="566928"/>
          </a:xfrm>
          <a:prstGeom prst="ellipse">
            <a:avLst/>
          </a:prstGeom>
          <a:solidFill>
            <a:schemeClr val="accent1"/>
          </a:solidFill>
          <a:ln w="12700">
            <a:solidFill>
              <a:schemeClr val="accent1"/>
            </a:solidFill>
            <a:prstDash val="solid"/>
          </a:ln>
        </p:spPr>
      </p:sp>
      <p:pic>
        <p:nvPicPr>
          <p:cNvPr id="6" name="Companion icon 1" descr="preencoded.png">    </p:cNvPr>
          <p:cNvPicPr>
            <a:picLocks noChangeAspect="1"/>
          </p:cNvPicPr>
          <p:nvPr/>
        </p:nvPicPr>
        <p:blipFill>
          <a:blip r:embed="rId1"/>
          <a:stretch>
            <a:fillRect/>
          </a:stretch>
        </p:blipFill>
        <p:spPr>
          <a:xfrm>
            <a:off x="701711" y="1936151"/>
            <a:ext cx="260787" cy="260787"/>
          </a:xfrm>
          <a:prstGeom prst="rect">
            <a:avLst/>
          </a:prstGeom>
        </p:spPr>
      </p:pic>
      <p:sp>
        <p:nvSpPr>
          <p:cNvPr id="7" name="Companion heading 1"/>
          <p:cNvSpPr txBox="1"/>
          <p:nvPr/>
        </p:nvSpPr>
        <p:spPr>
          <a:xfrm>
            <a:off x="1325880" y="1755648"/>
            <a:ext cx="3566160" cy="347472"/>
          </a:xfrm>
          <a:prstGeom prst="rect">
            <a:avLst/>
          </a:prstGeom>
          <a:noFill/>
          <a:ln/>
        </p:spPr>
        <p:txBody>
          <a:bodyPr wrap="square" lIns="0" tIns="0" rIns="0" bIns="0" rtlCol="0" anchor="t"/>
          <a:lstStyle/>
          <a:p>
            <a:pPr indent="0" marL="0">
              <a:buNone/>
            </a:pPr>
            <a:r>
              <a:rPr lang="en-US" sz="1800" b="1" dirty="0">
                <a:solidFill>
                  <a:schemeClr val="tx2"/>
                </a:solidFill>
              </a:rPr>
              <a:t>Always there on the slide</a:t>
            </a:r>
            <a:endParaRPr lang="en-US" sz="1800" dirty="0"/>
          </a:p>
        </p:txBody>
      </p:sp>
      <p:sp>
        <p:nvSpPr>
          <p:cNvPr id="8" name="Companion status 1 pill"/>
          <p:cNvSpPr/>
          <p:nvPr/>
        </p:nvSpPr>
        <p:spPr>
          <a:xfrm>
            <a:off x="5029200" y="1810512"/>
            <a:ext cx="713232" cy="246888"/>
          </a:xfrm>
          <a:prstGeom prst="roundRect">
            <a:avLst>
              <a:gd name="adj" fmla="val 48148"/>
            </a:avLst>
          </a:prstGeom>
          <a:solidFill>
            <a:schemeClr val="accent3"/>
          </a:solidFill>
          <a:ln w="12700">
            <a:solidFill>
              <a:schemeClr val="accent3"/>
            </a:solidFill>
            <a:prstDash val="solid"/>
          </a:ln>
        </p:spPr>
      </p:sp>
      <p:sp>
        <p:nvSpPr>
          <p:cNvPr id="9" name="Companion status 1"/>
          <p:cNvSpPr txBox="1"/>
          <p:nvPr/>
        </p:nvSpPr>
        <p:spPr>
          <a:xfrm>
            <a:off x="5029200" y="1810512"/>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10" name="Companion text 1"/>
          <p:cNvSpPr txBox="1"/>
          <p:nvPr/>
        </p:nvSpPr>
        <p:spPr>
          <a:xfrm>
            <a:off x="1325880" y="2112264"/>
            <a:ext cx="4754880" cy="914400"/>
          </a:xfrm>
          <a:prstGeom prst="rect">
            <a:avLst/>
          </a:prstGeom>
          <a:noFill/>
          <a:ln/>
        </p:spPr>
        <p:txBody>
          <a:bodyPr wrap="square" lIns="0" tIns="0" rIns="0" bIns="0" rtlCol="0" anchor="t"/>
          <a:lstStyle/>
          <a:p>
            <a:pPr indent="0" marL="0">
              <a:buNone/>
            </a:pPr>
            <a:r>
              <a:rPr lang="en-US" sz="1400" dirty="0">
                <a:solidFill>
                  <a:schemeClr val="tx1"/>
                </a:solidFill>
              </a:rPr>
              <a:t>A small character keeps you company: it blinks, looks around and nods as you move on. It speaks rarely, so it never breaks your focus.</a:t>
            </a:r>
            <a:endParaRPr lang="en-US" sz="1400" dirty="0"/>
          </a:p>
        </p:txBody>
      </p:sp>
      <p:sp>
        <p:nvSpPr>
          <p:cNvPr id="11" name="Companion icon 2 circle"/>
          <p:cNvSpPr/>
          <p:nvPr/>
        </p:nvSpPr>
        <p:spPr>
          <a:xfrm>
            <a:off x="548640" y="3154680"/>
            <a:ext cx="566928" cy="566928"/>
          </a:xfrm>
          <a:prstGeom prst="ellipse">
            <a:avLst/>
          </a:prstGeom>
          <a:solidFill>
            <a:schemeClr val="accent2"/>
          </a:solidFill>
          <a:ln w="12700">
            <a:solidFill>
              <a:schemeClr val="accent2"/>
            </a:solidFill>
            <a:prstDash val="solid"/>
          </a:ln>
        </p:spPr>
      </p:sp>
      <p:pic>
        <p:nvPicPr>
          <p:cNvPr id="12" name="Companion icon 2" descr="preencoded.png">    </p:cNvPr>
          <p:cNvPicPr>
            <a:picLocks noChangeAspect="1"/>
          </p:cNvPicPr>
          <p:nvPr/>
        </p:nvPicPr>
        <p:blipFill>
          <a:blip r:embed="rId2"/>
          <a:stretch>
            <a:fillRect/>
          </a:stretch>
        </p:blipFill>
        <p:spPr>
          <a:xfrm>
            <a:off x="701711" y="3307751"/>
            <a:ext cx="260787" cy="260787"/>
          </a:xfrm>
          <a:prstGeom prst="rect">
            <a:avLst/>
          </a:prstGeom>
        </p:spPr>
      </p:pic>
      <p:sp>
        <p:nvSpPr>
          <p:cNvPr id="13" name="Companion heading 2"/>
          <p:cNvSpPr txBox="1"/>
          <p:nvPr/>
        </p:nvSpPr>
        <p:spPr>
          <a:xfrm>
            <a:off x="1325880" y="3127248"/>
            <a:ext cx="3566160" cy="347472"/>
          </a:xfrm>
          <a:prstGeom prst="rect">
            <a:avLst/>
          </a:prstGeom>
          <a:noFill/>
          <a:ln/>
        </p:spPr>
        <p:txBody>
          <a:bodyPr wrap="square" lIns="0" tIns="0" rIns="0" bIns="0" rtlCol="0" anchor="t"/>
          <a:lstStyle/>
          <a:p>
            <a:pPr indent="0" marL="0">
              <a:buNone/>
            </a:pPr>
            <a:r>
              <a:rPr lang="en-US" sz="1800" b="1" dirty="0">
                <a:solidFill>
                  <a:schemeClr val="tx2"/>
                </a:solidFill>
              </a:rPr>
              <a:t>Make it yours</a:t>
            </a:r>
            <a:endParaRPr lang="en-US" sz="1800" dirty="0"/>
          </a:p>
        </p:txBody>
      </p:sp>
      <p:sp>
        <p:nvSpPr>
          <p:cNvPr id="14" name="Companion status 2 pill"/>
          <p:cNvSpPr/>
          <p:nvPr/>
        </p:nvSpPr>
        <p:spPr>
          <a:xfrm>
            <a:off x="5029200" y="3182112"/>
            <a:ext cx="713232" cy="246888"/>
          </a:xfrm>
          <a:prstGeom prst="roundRect">
            <a:avLst>
              <a:gd name="adj" fmla="val 48148"/>
            </a:avLst>
          </a:prstGeom>
          <a:solidFill>
            <a:schemeClr val="accent3"/>
          </a:solidFill>
          <a:ln w="12700">
            <a:solidFill>
              <a:schemeClr val="accent3"/>
            </a:solidFill>
            <a:prstDash val="solid"/>
          </a:ln>
        </p:spPr>
      </p:sp>
      <p:sp>
        <p:nvSpPr>
          <p:cNvPr id="15" name="Companion status 2"/>
          <p:cNvSpPr txBox="1"/>
          <p:nvPr/>
        </p:nvSpPr>
        <p:spPr>
          <a:xfrm>
            <a:off x="5029200" y="3182112"/>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16" name="Companion text 2"/>
          <p:cNvSpPr txBox="1"/>
          <p:nvPr/>
        </p:nvSpPr>
        <p:spPr>
          <a:xfrm>
            <a:off x="1325880" y="3483864"/>
            <a:ext cx="4754880" cy="914400"/>
          </a:xfrm>
          <a:prstGeom prst="rect">
            <a:avLst/>
          </a:prstGeom>
          <a:noFill/>
          <a:ln/>
        </p:spPr>
        <p:txBody>
          <a:bodyPr wrap="square" lIns="0" tIns="0" rIns="0" bIns="0" rtlCol="0" anchor="t"/>
          <a:lstStyle/>
          <a:p>
            <a:pPr indent="0" marL="0">
              <a:buNone/>
            </a:pPr>
            <a:r>
              <a:rPr lang="en-US" sz="1400" dirty="0">
                <a:solidFill>
                  <a:schemeClr val="tx1"/>
                </a:solidFill>
              </a:rPr>
              <a:t>Give it a name, then pick a character, a colour and an extra: glasses, a grad cap, headphones, coffee.</a:t>
            </a:r>
            <a:endParaRPr lang="en-US" sz="1400" dirty="0"/>
          </a:p>
        </p:txBody>
      </p:sp>
      <p:sp>
        <p:nvSpPr>
          <p:cNvPr id="17" name="Companion icon 3 circle"/>
          <p:cNvSpPr/>
          <p:nvPr/>
        </p:nvSpPr>
        <p:spPr>
          <a:xfrm>
            <a:off x="548640" y="4526280"/>
            <a:ext cx="566928" cy="566928"/>
          </a:xfrm>
          <a:prstGeom prst="ellipse">
            <a:avLst/>
          </a:prstGeom>
          <a:solidFill>
            <a:schemeClr val="accent1"/>
          </a:solidFill>
          <a:ln w="12700">
            <a:solidFill>
              <a:schemeClr val="accent1"/>
            </a:solidFill>
            <a:prstDash val="solid"/>
          </a:ln>
        </p:spPr>
      </p:sp>
      <p:pic>
        <p:nvPicPr>
          <p:cNvPr id="18" name="Companion icon 3" descr="preencoded.png">    </p:cNvPr>
          <p:cNvPicPr>
            <a:picLocks noChangeAspect="1"/>
          </p:cNvPicPr>
          <p:nvPr/>
        </p:nvPicPr>
        <p:blipFill>
          <a:blip r:embed="rId3"/>
          <a:stretch>
            <a:fillRect/>
          </a:stretch>
        </p:blipFill>
        <p:spPr>
          <a:xfrm>
            <a:off x="701711" y="4679351"/>
            <a:ext cx="260787" cy="260787"/>
          </a:xfrm>
          <a:prstGeom prst="rect">
            <a:avLst/>
          </a:prstGeom>
        </p:spPr>
      </p:pic>
      <p:sp>
        <p:nvSpPr>
          <p:cNvPr id="19" name="Companion heading 3"/>
          <p:cNvSpPr txBox="1"/>
          <p:nvPr/>
        </p:nvSpPr>
        <p:spPr>
          <a:xfrm>
            <a:off x="1325880" y="4498848"/>
            <a:ext cx="3566160" cy="347472"/>
          </a:xfrm>
          <a:prstGeom prst="rect">
            <a:avLst/>
          </a:prstGeom>
          <a:noFill/>
          <a:ln/>
        </p:spPr>
        <p:txBody>
          <a:bodyPr wrap="square" lIns="0" tIns="0" rIns="0" bIns="0" rtlCol="0" anchor="t"/>
          <a:lstStyle/>
          <a:p>
            <a:pPr indent="0" marL="0">
              <a:buNone/>
            </a:pPr>
            <a:r>
              <a:rPr lang="en-US" sz="1800" b="1" dirty="0">
                <a:solidFill>
                  <a:schemeClr val="tx2"/>
                </a:solidFill>
              </a:rPr>
              <a:t>Praise that means something</a:t>
            </a:r>
            <a:endParaRPr lang="en-US" sz="1800" dirty="0"/>
          </a:p>
        </p:txBody>
      </p:sp>
      <p:sp>
        <p:nvSpPr>
          <p:cNvPr id="20" name="Companion status 3 pill"/>
          <p:cNvSpPr/>
          <p:nvPr/>
        </p:nvSpPr>
        <p:spPr>
          <a:xfrm>
            <a:off x="5029200" y="4553712"/>
            <a:ext cx="713232" cy="246888"/>
          </a:xfrm>
          <a:prstGeom prst="roundRect">
            <a:avLst>
              <a:gd name="adj" fmla="val 48148"/>
            </a:avLst>
          </a:prstGeom>
          <a:solidFill>
            <a:schemeClr val="accent3"/>
          </a:solidFill>
          <a:ln w="12700">
            <a:solidFill>
              <a:schemeClr val="accent3"/>
            </a:solidFill>
            <a:prstDash val="solid"/>
          </a:ln>
        </p:spPr>
      </p:sp>
      <p:sp>
        <p:nvSpPr>
          <p:cNvPr id="21" name="Companion status 3"/>
          <p:cNvSpPr txBox="1"/>
          <p:nvPr/>
        </p:nvSpPr>
        <p:spPr>
          <a:xfrm>
            <a:off x="5029200" y="4553712"/>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22" name="Companion text 3"/>
          <p:cNvSpPr txBox="1"/>
          <p:nvPr/>
        </p:nvSpPr>
        <p:spPr>
          <a:xfrm>
            <a:off x="1325880" y="4855464"/>
            <a:ext cx="4754880" cy="914400"/>
          </a:xfrm>
          <a:prstGeom prst="rect">
            <a:avLst/>
          </a:prstGeom>
          <a:noFill/>
          <a:ln/>
        </p:spPr>
        <p:txBody>
          <a:bodyPr wrap="square" lIns="0" tIns="0" rIns="0" bIns="0" rtlCol="0" anchor="t"/>
          <a:lstStyle/>
          <a:p>
            <a:pPr indent="0" marL="0">
              <a:buNone/>
            </a:pPr>
            <a:r>
              <a:rPr lang="en-US" sz="1400" dirty="0">
                <a:solidFill>
                  <a:schemeClr val="tx1"/>
                </a:solidFill>
              </a:rPr>
              <a:t>It notices highlights, notes and links, and says what you did well and why it helps. It is honest when you overdo it.</a:t>
            </a:r>
            <a:endParaRPr lang="en-US" sz="1400" dirty="0"/>
          </a:p>
        </p:txBody>
      </p:sp>
      <p:sp>
        <p:nvSpPr>
          <p:cNvPr id="23" name="Companion screenshot frame"/>
          <p:cNvSpPr/>
          <p:nvPr/>
        </p:nvSpPr>
        <p:spPr>
          <a:xfrm>
            <a:off x="6528816" y="1728216"/>
            <a:ext cx="5138928" cy="2578608"/>
          </a:xfrm>
          <a:prstGeom prst="roundRect">
            <a:avLst>
              <a:gd name="adj" fmla="val 2837"/>
            </a:avLst>
          </a:prstGeom>
          <a:solidFill>
            <a:schemeClr val="bg1"/>
          </a:solidFill>
          <a:ln w="9525">
            <a:solidFill>
              <a:srgbClr val="D9D4CA"/>
            </a:solidFill>
            <a:prstDash val="solid"/>
          </a:ln>
          <a:effectLst>
            <a:outerShdw sx="100000" sy="100000" kx="0" ky="0" algn="bl" rotWithShape="0" blurRad="177800" dist="50800" dir="5400000">
              <a:srgbClr val="193B5A">
                <a:alpha val="18000"/>
              </a:srgbClr>
            </a:outerShdw>
          </a:effectLst>
        </p:spPr>
      </p:sp>
      <p:pic>
        <p:nvPicPr>
          <p:cNvPr id="24" name="Companion screenshot" descr="img/companion.png">    </p:cNvPr>
          <p:cNvPicPr>
            <a:picLocks noChangeAspect="1"/>
          </p:cNvPicPr>
          <p:nvPr/>
        </p:nvPicPr>
        <p:blipFill>
          <a:blip r:embed="rId4"/>
          <a:stretch>
            <a:fillRect/>
          </a:stretch>
        </p:blipFill>
        <p:spPr>
          <a:xfrm>
            <a:off x="6583680" y="1783080"/>
            <a:ext cx="5029200" cy="2468880"/>
          </a:xfrm>
          <a:prstGeom prst="rect">
            <a:avLst/>
          </a:prstGeom>
        </p:spPr>
      </p:pic>
      <p:sp>
        <p:nvSpPr>
          <p:cNvPr id="25" name="Companion caption"/>
          <p:cNvSpPr txBox="1"/>
          <p:nvPr/>
        </p:nvSpPr>
        <p:spPr>
          <a:xfrm>
            <a:off x="6583680" y="4370832"/>
            <a:ext cx="5029200" cy="274320"/>
          </a:xfrm>
          <a:prstGeom prst="rect">
            <a:avLst/>
          </a:prstGeom>
          <a:noFill/>
          <a:ln/>
        </p:spPr>
        <p:txBody>
          <a:bodyPr wrap="square" lIns="0" tIns="0" rIns="0" bIns="0" rtlCol="0" anchor="t"/>
          <a:lstStyle/>
          <a:p>
            <a:pPr indent="0" marL="0">
              <a:buNone/>
            </a:pPr>
            <a:r>
              <a:rPr lang="en-US" sz="1100" i="1" dirty="0">
                <a:solidFill>
                  <a:schemeClr val="accent5"/>
                </a:solidFill>
              </a:rPr>
              <a:t>After a highlight, the Study Partner says what was good about it</a:t>
            </a:r>
            <a:endParaRPr lang="en-US" sz="1100" dirty="0"/>
          </a:p>
        </p:txBody>
      </p:sp>
      <p:sp>
        <p:nvSpPr>
          <p:cNvPr id="26" name="Characters card"/>
          <p:cNvSpPr/>
          <p:nvPr/>
        </p:nvSpPr>
        <p:spPr>
          <a:xfrm>
            <a:off x="6583680" y="4892040"/>
            <a:ext cx="5029200" cy="960120"/>
          </a:xfrm>
          <a:prstGeom prst="roundRect">
            <a:avLst>
              <a:gd name="adj" fmla="val 11429"/>
            </a:avLst>
          </a:prstGeom>
          <a:solidFill>
            <a:schemeClr val="accent4"/>
          </a:solidFill>
          <a:ln w="12700">
            <a:solidFill>
              <a:schemeClr val="accent4"/>
            </a:solidFill>
            <a:prstDash val="solid"/>
          </a:ln>
        </p:spPr>
      </p:sp>
      <p:pic>
        <p:nvPicPr>
          <p:cNvPr id="27" name="Character choices" descr="img/characters.png">    </p:cNvPr>
          <p:cNvPicPr>
            <a:picLocks noChangeAspect="1"/>
          </p:cNvPicPr>
          <p:nvPr/>
        </p:nvPicPr>
        <p:blipFill>
          <a:blip r:embed="rId5"/>
          <a:stretch>
            <a:fillRect/>
          </a:stretch>
        </p:blipFill>
        <p:spPr>
          <a:xfrm>
            <a:off x="6702552" y="5029200"/>
            <a:ext cx="4800600" cy="685800"/>
          </a:xfrm>
          <a:prstGeom prst="rect">
            <a:avLst/>
          </a:prstGeom>
        </p:spPr>
      </p:pic>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FEATURE 1  ·  STUDY PARTNER</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Talking to it feels like messaging a friend</a:t>
            </a:r>
            <a:endParaRPr lang="en-US" sz="3200" dirty="0"/>
          </a:p>
        </p:txBody>
      </p:sp>
      <p:sp>
        <p:nvSpPr>
          <p:cNvPr id="5" name="Talk icon 1 circle"/>
          <p:cNvSpPr/>
          <p:nvPr/>
        </p:nvSpPr>
        <p:spPr>
          <a:xfrm>
            <a:off x="548640" y="1783080"/>
            <a:ext cx="566928" cy="566928"/>
          </a:xfrm>
          <a:prstGeom prst="ellipse">
            <a:avLst/>
          </a:prstGeom>
          <a:solidFill>
            <a:schemeClr val="accent1"/>
          </a:solidFill>
          <a:ln w="12700">
            <a:solidFill>
              <a:schemeClr val="accent1"/>
            </a:solidFill>
            <a:prstDash val="solid"/>
          </a:ln>
        </p:spPr>
      </p:sp>
      <p:pic>
        <p:nvPicPr>
          <p:cNvPr id="6" name="Talk icon 1" descr="preencoded.png">    </p:cNvPr>
          <p:cNvPicPr>
            <a:picLocks noChangeAspect="1"/>
          </p:cNvPicPr>
          <p:nvPr/>
        </p:nvPicPr>
        <p:blipFill>
          <a:blip r:embed="rId1"/>
          <a:stretch>
            <a:fillRect/>
          </a:stretch>
        </p:blipFill>
        <p:spPr>
          <a:xfrm>
            <a:off x="701711" y="1936151"/>
            <a:ext cx="260787" cy="260787"/>
          </a:xfrm>
          <a:prstGeom prst="rect">
            <a:avLst/>
          </a:prstGeom>
        </p:spPr>
      </p:pic>
      <p:sp>
        <p:nvSpPr>
          <p:cNvPr id="7" name="Talk heading 1"/>
          <p:cNvSpPr txBox="1"/>
          <p:nvPr/>
        </p:nvSpPr>
        <p:spPr>
          <a:xfrm>
            <a:off x="1325880" y="1755648"/>
            <a:ext cx="3931920" cy="347472"/>
          </a:xfrm>
          <a:prstGeom prst="rect">
            <a:avLst/>
          </a:prstGeom>
          <a:noFill/>
          <a:ln/>
        </p:spPr>
        <p:txBody>
          <a:bodyPr wrap="square" lIns="0" tIns="0" rIns="0" bIns="0" rtlCol="0" anchor="t"/>
          <a:lstStyle/>
          <a:p>
            <a:pPr indent="0" marL="0">
              <a:buNone/>
            </a:pPr>
            <a:r>
              <a:rPr lang="en-US" sz="1800" b="1" dirty="0">
                <a:solidFill>
                  <a:schemeClr val="tx2"/>
                </a:solidFill>
              </a:rPr>
              <a:t>Back and forth, in bubbles</a:t>
            </a:r>
            <a:endParaRPr lang="en-US" sz="1800" dirty="0"/>
          </a:p>
        </p:txBody>
      </p:sp>
      <p:sp>
        <p:nvSpPr>
          <p:cNvPr id="8" name="Talk status 1 pill"/>
          <p:cNvSpPr/>
          <p:nvPr/>
        </p:nvSpPr>
        <p:spPr>
          <a:xfrm>
            <a:off x="5440680" y="1810512"/>
            <a:ext cx="713232" cy="246888"/>
          </a:xfrm>
          <a:prstGeom prst="roundRect">
            <a:avLst>
              <a:gd name="adj" fmla="val 48148"/>
            </a:avLst>
          </a:prstGeom>
          <a:solidFill>
            <a:schemeClr val="accent3"/>
          </a:solidFill>
          <a:ln w="12700">
            <a:solidFill>
              <a:schemeClr val="accent3"/>
            </a:solidFill>
            <a:prstDash val="solid"/>
          </a:ln>
        </p:spPr>
      </p:sp>
      <p:sp>
        <p:nvSpPr>
          <p:cNvPr id="9" name="Talk status 1"/>
          <p:cNvSpPr txBox="1"/>
          <p:nvPr/>
        </p:nvSpPr>
        <p:spPr>
          <a:xfrm>
            <a:off x="5440680" y="1810512"/>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10" name="Talk text 1"/>
          <p:cNvSpPr txBox="1"/>
          <p:nvPr/>
        </p:nvSpPr>
        <p:spPr>
          <a:xfrm>
            <a:off x="1325880" y="2112264"/>
            <a:ext cx="5120640" cy="685800"/>
          </a:xfrm>
          <a:prstGeom prst="rect">
            <a:avLst/>
          </a:prstGeom>
          <a:noFill/>
          <a:ln/>
        </p:spPr>
        <p:txBody>
          <a:bodyPr wrap="square" lIns="0" tIns="0" rIns="0" bIns="0" rtlCol="0" anchor="t"/>
          <a:lstStyle/>
          <a:p>
            <a:pPr indent="0" marL="0">
              <a:buNone/>
            </a:pPr>
            <a:r>
              <a:rPr lang="en-US" sz="1400" dirty="0">
                <a:solidFill>
                  <a:schemeClr val="tx1"/>
                </a:solidFill>
              </a:rPr>
              <a:t>Press / and it opens like a direct message: “typing…”, “Seen”, and follow-ups shown as replies.</a:t>
            </a:r>
            <a:endParaRPr lang="en-US" sz="1400" dirty="0"/>
          </a:p>
        </p:txBody>
      </p:sp>
      <p:sp>
        <p:nvSpPr>
          <p:cNvPr id="11" name="Talk icon 2 circle"/>
          <p:cNvSpPr/>
          <p:nvPr/>
        </p:nvSpPr>
        <p:spPr>
          <a:xfrm>
            <a:off x="548640" y="2862072"/>
            <a:ext cx="566928" cy="566928"/>
          </a:xfrm>
          <a:prstGeom prst="ellipse">
            <a:avLst/>
          </a:prstGeom>
          <a:solidFill>
            <a:schemeClr val="accent2"/>
          </a:solidFill>
          <a:ln w="12700">
            <a:solidFill>
              <a:schemeClr val="accent2"/>
            </a:solidFill>
            <a:prstDash val="solid"/>
          </a:ln>
        </p:spPr>
      </p:sp>
      <p:pic>
        <p:nvPicPr>
          <p:cNvPr id="12" name="Talk icon 2" descr="preencoded.png">    </p:cNvPr>
          <p:cNvPicPr>
            <a:picLocks noChangeAspect="1"/>
          </p:cNvPicPr>
          <p:nvPr/>
        </p:nvPicPr>
        <p:blipFill>
          <a:blip r:embed="rId2"/>
          <a:stretch>
            <a:fillRect/>
          </a:stretch>
        </p:blipFill>
        <p:spPr>
          <a:xfrm>
            <a:off x="701711" y="3015143"/>
            <a:ext cx="260787" cy="260787"/>
          </a:xfrm>
          <a:prstGeom prst="rect">
            <a:avLst/>
          </a:prstGeom>
        </p:spPr>
      </p:pic>
      <p:sp>
        <p:nvSpPr>
          <p:cNvPr id="13" name="Talk heading 2"/>
          <p:cNvSpPr txBox="1"/>
          <p:nvPr/>
        </p:nvSpPr>
        <p:spPr>
          <a:xfrm>
            <a:off x="1325880" y="2834640"/>
            <a:ext cx="3931920" cy="347472"/>
          </a:xfrm>
          <a:prstGeom prst="rect">
            <a:avLst/>
          </a:prstGeom>
          <a:noFill/>
          <a:ln/>
        </p:spPr>
        <p:txBody>
          <a:bodyPr wrap="square" lIns="0" tIns="0" rIns="0" bIns="0" rtlCol="0" anchor="t"/>
          <a:lstStyle/>
          <a:p>
            <a:pPr indent="0" marL="0">
              <a:buNone/>
            </a:pPr>
            <a:r>
              <a:rPr lang="en-US" sz="1800" b="1" dirty="0">
                <a:solidFill>
                  <a:schemeClr val="tx2"/>
                </a:solidFill>
              </a:rPr>
              <a:t>Knows your slide and your course</a:t>
            </a:r>
            <a:endParaRPr lang="en-US" sz="1800" dirty="0"/>
          </a:p>
        </p:txBody>
      </p:sp>
      <p:sp>
        <p:nvSpPr>
          <p:cNvPr id="14" name="Talk status 2 pill"/>
          <p:cNvSpPr/>
          <p:nvPr/>
        </p:nvSpPr>
        <p:spPr>
          <a:xfrm>
            <a:off x="5440680" y="2889504"/>
            <a:ext cx="713232" cy="246888"/>
          </a:xfrm>
          <a:prstGeom prst="roundRect">
            <a:avLst>
              <a:gd name="adj" fmla="val 48148"/>
            </a:avLst>
          </a:prstGeom>
          <a:solidFill>
            <a:schemeClr val="accent3"/>
          </a:solidFill>
          <a:ln w="12700">
            <a:solidFill>
              <a:schemeClr val="accent3"/>
            </a:solidFill>
            <a:prstDash val="solid"/>
          </a:ln>
        </p:spPr>
      </p:sp>
      <p:sp>
        <p:nvSpPr>
          <p:cNvPr id="15" name="Talk status 2"/>
          <p:cNvSpPr txBox="1"/>
          <p:nvPr/>
        </p:nvSpPr>
        <p:spPr>
          <a:xfrm>
            <a:off x="5440680" y="2889504"/>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16" name="Talk text 2"/>
          <p:cNvSpPr txBox="1"/>
          <p:nvPr/>
        </p:nvSpPr>
        <p:spPr>
          <a:xfrm>
            <a:off x="1325880" y="3191256"/>
            <a:ext cx="5120640" cy="685800"/>
          </a:xfrm>
          <a:prstGeom prst="rect">
            <a:avLst/>
          </a:prstGeom>
          <a:noFill/>
          <a:ln/>
        </p:spPr>
        <p:txBody>
          <a:bodyPr wrap="square" lIns="0" tIns="0" rIns="0" bIns="0" rtlCol="0" anchor="t"/>
          <a:lstStyle/>
          <a:p>
            <a:pPr indent="0" marL="0">
              <a:buNone/>
            </a:pPr>
            <a:r>
              <a:rPr lang="en-US" sz="1400" dirty="0">
                <a:solidFill>
                  <a:schemeClr val="tx1"/>
                </a:solidFill>
              </a:rPr>
              <a:t>It reads the slide you are on and your course files, so answers come from your own material.</a:t>
            </a:r>
            <a:endParaRPr lang="en-US" sz="1400" dirty="0"/>
          </a:p>
        </p:txBody>
      </p:sp>
      <p:sp>
        <p:nvSpPr>
          <p:cNvPr id="17" name="Talk icon 3 circle"/>
          <p:cNvSpPr/>
          <p:nvPr/>
        </p:nvSpPr>
        <p:spPr>
          <a:xfrm>
            <a:off x="548640" y="3941064"/>
            <a:ext cx="566928" cy="566928"/>
          </a:xfrm>
          <a:prstGeom prst="ellipse">
            <a:avLst/>
          </a:prstGeom>
          <a:solidFill>
            <a:schemeClr val="accent1"/>
          </a:solidFill>
          <a:ln w="12700">
            <a:solidFill>
              <a:schemeClr val="accent1"/>
            </a:solidFill>
            <a:prstDash val="solid"/>
          </a:ln>
        </p:spPr>
      </p:sp>
      <p:pic>
        <p:nvPicPr>
          <p:cNvPr id="18" name="Talk icon 3" descr="preencoded.png">    </p:cNvPr>
          <p:cNvPicPr>
            <a:picLocks noChangeAspect="1"/>
          </p:cNvPicPr>
          <p:nvPr/>
        </p:nvPicPr>
        <p:blipFill>
          <a:blip r:embed="rId3"/>
          <a:stretch>
            <a:fillRect/>
          </a:stretch>
        </p:blipFill>
        <p:spPr>
          <a:xfrm>
            <a:off x="701711" y="4094135"/>
            <a:ext cx="260787" cy="260787"/>
          </a:xfrm>
          <a:prstGeom prst="rect">
            <a:avLst/>
          </a:prstGeom>
        </p:spPr>
      </p:pic>
      <p:sp>
        <p:nvSpPr>
          <p:cNvPr id="19" name="Talk heading 3"/>
          <p:cNvSpPr txBox="1"/>
          <p:nvPr/>
        </p:nvSpPr>
        <p:spPr>
          <a:xfrm>
            <a:off x="1325880" y="3913632"/>
            <a:ext cx="3931920" cy="347472"/>
          </a:xfrm>
          <a:prstGeom prst="rect">
            <a:avLst/>
          </a:prstGeom>
          <a:noFill/>
          <a:ln/>
        </p:spPr>
        <p:txBody>
          <a:bodyPr wrap="square" lIns="0" tIns="0" rIns="0" bIns="0" rtlCol="0" anchor="t"/>
          <a:lstStyle/>
          <a:p>
            <a:pPr indent="0" marL="0">
              <a:buNone/>
            </a:pPr>
            <a:r>
              <a:rPr lang="en-US" sz="1800" b="1" dirty="0">
                <a:solidFill>
                  <a:schemeClr val="tx2"/>
                </a:solidFill>
              </a:rPr>
              <a:t>Quick or Deep, typed or spoken</a:t>
            </a:r>
            <a:endParaRPr lang="en-US" sz="1800" dirty="0"/>
          </a:p>
        </p:txBody>
      </p:sp>
      <p:sp>
        <p:nvSpPr>
          <p:cNvPr id="20" name="Talk status 3 pill"/>
          <p:cNvSpPr/>
          <p:nvPr/>
        </p:nvSpPr>
        <p:spPr>
          <a:xfrm>
            <a:off x="5440680" y="3968496"/>
            <a:ext cx="713232" cy="246888"/>
          </a:xfrm>
          <a:prstGeom prst="roundRect">
            <a:avLst>
              <a:gd name="adj" fmla="val 48148"/>
            </a:avLst>
          </a:prstGeom>
          <a:solidFill>
            <a:schemeClr val="accent3"/>
          </a:solidFill>
          <a:ln w="12700">
            <a:solidFill>
              <a:schemeClr val="accent3"/>
            </a:solidFill>
            <a:prstDash val="solid"/>
          </a:ln>
        </p:spPr>
      </p:sp>
      <p:sp>
        <p:nvSpPr>
          <p:cNvPr id="21" name="Talk status 3"/>
          <p:cNvSpPr txBox="1"/>
          <p:nvPr/>
        </p:nvSpPr>
        <p:spPr>
          <a:xfrm>
            <a:off x="5440680" y="3968496"/>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22" name="Talk text 3"/>
          <p:cNvSpPr txBox="1"/>
          <p:nvPr/>
        </p:nvSpPr>
        <p:spPr>
          <a:xfrm>
            <a:off x="1325880" y="4270248"/>
            <a:ext cx="5120640" cy="685800"/>
          </a:xfrm>
          <a:prstGeom prst="rect">
            <a:avLst/>
          </a:prstGeom>
          <a:noFill/>
          <a:ln/>
        </p:spPr>
        <p:txBody>
          <a:bodyPr wrap="square" lIns="0" tIns="0" rIns="0" bIns="0" rtlCol="0" anchor="t"/>
          <a:lstStyle/>
          <a:p>
            <a:pPr indent="0" marL="0">
              <a:buNone/>
            </a:pPr>
            <a:r>
              <a:rPr lang="en-US" sz="1400" dirty="0">
                <a:solidFill>
                  <a:schemeClr val="tx1"/>
                </a:solidFill>
              </a:rPr>
              <a:t>Choose the key point or the full explanation. Speak your question, and listen to the answer.</a:t>
            </a:r>
            <a:endParaRPr lang="en-US" sz="1400" dirty="0"/>
          </a:p>
        </p:txBody>
      </p:sp>
      <p:sp>
        <p:nvSpPr>
          <p:cNvPr id="23" name="Talk icon 4 circle"/>
          <p:cNvSpPr/>
          <p:nvPr/>
        </p:nvSpPr>
        <p:spPr>
          <a:xfrm>
            <a:off x="548640" y="5020056"/>
            <a:ext cx="566928" cy="566928"/>
          </a:xfrm>
          <a:prstGeom prst="ellipse">
            <a:avLst/>
          </a:prstGeom>
          <a:solidFill>
            <a:schemeClr val="accent2"/>
          </a:solidFill>
          <a:ln w="12700">
            <a:solidFill>
              <a:schemeClr val="accent2"/>
            </a:solidFill>
            <a:prstDash val="solid"/>
          </a:ln>
        </p:spPr>
      </p:sp>
      <p:pic>
        <p:nvPicPr>
          <p:cNvPr id="24" name="Talk icon 4" descr="preencoded.png">    </p:cNvPr>
          <p:cNvPicPr>
            <a:picLocks noChangeAspect="1"/>
          </p:cNvPicPr>
          <p:nvPr/>
        </p:nvPicPr>
        <p:blipFill>
          <a:blip r:embed="rId4"/>
          <a:stretch>
            <a:fillRect/>
          </a:stretch>
        </p:blipFill>
        <p:spPr>
          <a:xfrm>
            <a:off x="701711" y="5173127"/>
            <a:ext cx="260787" cy="260787"/>
          </a:xfrm>
          <a:prstGeom prst="rect">
            <a:avLst/>
          </a:prstGeom>
        </p:spPr>
      </p:pic>
      <p:sp>
        <p:nvSpPr>
          <p:cNvPr id="25" name="Talk heading 4"/>
          <p:cNvSpPr txBox="1"/>
          <p:nvPr/>
        </p:nvSpPr>
        <p:spPr>
          <a:xfrm>
            <a:off x="1325880" y="4992624"/>
            <a:ext cx="3931920" cy="347472"/>
          </a:xfrm>
          <a:prstGeom prst="rect">
            <a:avLst/>
          </a:prstGeom>
          <a:noFill/>
          <a:ln/>
        </p:spPr>
        <p:txBody>
          <a:bodyPr wrap="square" lIns="0" tIns="0" rIns="0" bIns="0" rtlCol="0" anchor="t"/>
          <a:lstStyle/>
          <a:p>
            <a:pPr indent="0" marL="0">
              <a:buNone/>
            </a:pPr>
            <a:r>
              <a:rPr lang="en-US" sz="1800" b="1" dirty="0">
                <a:solidFill>
                  <a:schemeClr val="tx2"/>
                </a:solidFill>
              </a:rPr>
              <a:t>Matched to your personality</a:t>
            </a:r>
            <a:endParaRPr lang="en-US" sz="1800" dirty="0"/>
          </a:p>
        </p:txBody>
      </p:sp>
      <p:sp>
        <p:nvSpPr>
          <p:cNvPr id="26" name="Talk status 4 pill"/>
          <p:cNvSpPr/>
          <p:nvPr/>
        </p:nvSpPr>
        <p:spPr>
          <a:xfrm>
            <a:off x="5440680" y="5047488"/>
            <a:ext cx="713232" cy="246888"/>
          </a:xfrm>
          <a:prstGeom prst="roundRect">
            <a:avLst>
              <a:gd name="adj" fmla="val 48148"/>
            </a:avLst>
          </a:prstGeom>
          <a:solidFill>
            <a:schemeClr val="accent5"/>
          </a:solidFill>
          <a:ln w="12700">
            <a:solidFill>
              <a:schemeClr val="accent5"/>
            </a:solidFill>
            <a:prstDash val="solid"/>
          </a:ln>
        </p:spPr>
      </p:sp>
      <p:sp>
        <p:nvSpPr>
          <p:cNvPr id="27" name="Talk status 4"/>
          <p:cNvSpPr txBox="1"/>
          <p:nvPr/>
        </p:nvSpPr>
        <p:spPr>
          <a:xfrm>
            <a:off x="5440680" y="5047488"/>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Planned</a:t>
            </a:r>
            <a:endParaRPr lang="en-US" sz="1050" dirty="0"/>
          </a:p>
        </p:txBody>
      </p:sp>
      <p:sp>
        <p:nvSpPr>
          <p:cNvPr id="28" name="Talk text 4"/>
          <p:cNvSpPr txBox="1"/>
          <p:nvPr/>
        </p:nvSpPr>
        <p:spPr>
          <a:xfrm>
            <a:off x="1325880" y="5349240"/>
            <a:ext cx="5120640" cy="685800"/>
          </a:xfrm>
          <a:prstGeom prst="rect">
            <a:avLst/>
          </a:prstGeom>
          <a:noFill/>
          <a:ln/>
        </p:spPr>
        <p:txBody>
          <a:bodyPr wrap="square" lIns="0" tIns="0" rIns="0" bIns="0" rtlCol="0" anchor="t"/>
          <a:lstStyle/>
          <a:p>
            <a:pPr indent="0" marL="0">
              <a:buNone/>
            </a:pPr>
            <a:r>
              <a:rPr lang="en-US" sz="1400" dirty="0">
                <a:solidFill>
                  <a:schemeClr val="tx1"/>
                </a:solidFill>
              </a:rPr>
              <a:t>A few questions set how proactive it is and its tone. This needs a larger AI model than our demo’s.</a:t>
            </a:r>
            <a:endParaRPr lang="en-US" sz="1400" dirty="0"/>
          </a:p>
        </p:txBody>
      </p:sp>
      <p:sp>
        <p:nvSpPr>
          <p:cNvPr id="29" name="Conversation screenshot frame"/>
          <p:cNvSpPr/>
          <p:nvPr/>
        </p:nvSpPr>
        <p:spPr>
          <a:xfrm>
            <a:off x="7443216" y="1728216"/>
            <a:ext cx="3767328" cy="4398264"/>
          </a:xfrm>
          <a:prstGeom prst="roundRect">
            <a:avLst>
              <a:gd name="adj" fmla="val 1942"/>
            </a:avLst>
          </a:prstGeom>
          <a:solidFill>
            <a:schemeClr val="bg1"/>
          </a:solidFill>
          <a:ln w="9525">
            <a:solidFill>
              <a:srgbClr val="D9D4CA"/>
            </a:solidFill>
            <a:prstDash val="solid"/>
          </a:ln>
          <a:effectLst>
            <a:outerShdw sx="100000" sy="100000" kx="0" ky="0" algn="bl" rotWithShape="0" blurRad="177800" dist="50800" dir="5400000">
              <a:srgbClr val="193B5A">
                <a:alpha val="18000"/>
              </a:srgbClr>
            </a:outerShdw>
          </a:effectLst>
        </p:spPr>
      </p:sp>
      <p:pic>
        <p:nvPicPr>
          <p:cNvPr id="30" name="Conversation screenshot" descr="img/dm-chat.png">    </p:cNvPr>
          <p:cNvPicPr>
            <a:picLocks noChangeAspect="1"/>
          </p:cNvPicPr>
          <p:nvPr/>
        </p:nvPicPr>
        <p:blipFill>
          <a:blip r:embed="rId5"/>
          <a:stretch>
            <a:fillRect/>
          </a:stretch>
        </p:blipFill>
        <p:spPr>
          <a:xfrm>
            <a:off x="7498080" y="1783080"/>
            <a:ext cx="3657600" cy="4288536"/>
          </a:xfrm>
          <a:prstGeom prst="rect">
            <a:avLst/>
          </a:prstGeom>
        </p:spPr>
      </p:pic>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FEATURE 2  ·  QUICK LINKS</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Jump anywhere in about a second, like game controls</a:t>
            </a:r>
            <a:endParaRPr lang="en-US" sz="3200" dirty="0"/>
          </a:p>
        </p:txBody>
      </p:sp>
      <p:sp>
        <p:nvSpPr>
          <p:cNvPr id="5" name="Links icon circle"/>
          <p:cNvSpPr/>
          <p:nvPr/>
        </p:nvSpPr>
        <p:spPr>
          <a:xfrm>
            <a:off x="548640" y="1783080"/>
            <a:ext cx="566928" cy="566928"/>
          </a:xfrm>
          <a:prstGeom prst="ellipse">
            <a:avLst/>
          </a:prstGeom>
          <a:solidFill>
            <a:schemeClr val="accent1"/>
          </a:solidFill>
          <a:ln w="12700">
            <a:solidFill>
              <a:schemeClr val="accent1"/>
            </a:solidFill>
            <a:prstDash val="solid"/>
          </a:ln>
        </p:spPr>
      </p:sp>
      <p:pic>
        <p:nvPicPr>
          <p:cNvPr id="6" name="Links icon" descr="preencoded.png">    </p:cNvPr>
          <p:cNvPicPr>
            <a:picLocks noChangeAspect="1"/>
          </p:cNvPicPr>
          <p:nvPr/>
        </p:nvPicPr>
        <p:blipFill>
          <a:blip r:embed="rId1"/>
          <a:stretch>
            <a:fillRect/>
          </a:stretch>
        </p:blipFill>
        <p:spPr>
          <a:xfrm>
            <a:off x="701711" y="1936151"/>
            <a:ext cx="260787" cy="260787"/>
          </a:xfrm>
          <a:prstGeom prst="rect">
            <a:avLst/>
          </a:prstGeom>
        </p:spPr>
      </p:pic>
      <p:sp>
        <p:nvSpPr>
          <p:cNvPr id="7" name="Links heading"/>
          <p:cNvSpPr txBox="1"/>
          <p:nvPr/>
        </p:nvSpPr>
        <p:spPr>
          <a:xfrm>
            <a:off x="1325880" y="1755648"/>
            <a:ext cx="4846320" cy="347472"/>
          </a:xfrm>
          <a:prstGeom prst="rect">
            <a:avLst/>
          </a:prstGeom>
          <a:noFill/>
          <a:ln/>
        </p:spPr>
        <p:txBody>
          <a:bodyPr wrap="square" lIns="0" tIns="0" rIns="0" bIns="0" rtlCol="0" anchor="t"/>
          <a:lstStyle/>
          <a:p>
            <a:pPr indent="0" marL="0">
              <a:buNone/>
            </a:pPr>
            <a:r>
              <a:rPr lang="en-US" sz="1800" b="1" dirty="0">
                <a:solidFill>
                  <a:schemeClr val="tx2"/>
                </a:solidFill>
              </a:rPr>
              <a:t>Links between your materials</a:t>
            </a:r>
            <a:endParaRPr lang="en-US" sz="1800" dirty="0"/>
          </a:p>
        </p:txBody>
      </p:sp>
      <p:sp>
        <p:nvSpPr>
          <p:cNvPr id="8" name="Links text"/>
          <p:cNvSpPr txBox="1"/>
          <p:nvPr/>
        </p:nvSpPr>
        <p:spPr>
          <a:xfrm>
            <a:off x="1325880" y="2112264"/>
            <a:ext cx="4846320" cy="685800"/>
          </a:xfrm>
          <a:prstGeom prst="rect">
            <a:avLst/>
          </a:prstGeom>
          <a:noFill/>
          <a:ln/>
        </p:spPr>
        <p:txBody>
          <a:bodyPr wrap="square" lIns="0" tIns="0" rIns="0" bIns="0" rtlCol="0" anchor="t"/>
          <a:lstStyle/>
          <a:p>
            <a:pPr indent="0" marL="0">
              <a:buNone/>
            </a:pPr>
            <a:r>
              <a:rPr lang="en-US" sz="1400" dirty="0">
                <a:solidFill>
                  <a:schemeClr val="tx1"/>
                </a:solidFill>
              </a:rPr>
              <a:t>A lecture that mentions the project gets a button to the guidelines. Pin a sticky note to link a slide to an earlier lecture, with a private note on why.</a:t>
            </a:r>
            <a:endParaRPr lang="en-US" sz="1400" dirty="0"/>
          </a:p>
        </p:txBody>
      </p:sp>
      <p:sp>
        <p:nvSpPr>
          <p:cNvPr id="9" name="Key G 0"/>
          <p:cNvSpPr/>
          <p:nvPr/>
        </p:nvSpPr>
        <p:spPr>
          <a:xfrm>
            <a:off x="548640" y="3017520"/>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10" name="Key label G 0"/>
          <p:cNvSpPr txBox="1"/>
          <p:nvPr/>
        </p:nvSpPr>
        <p:spPr>
          <a:xfrm>
            <a:off x="548640" y="301752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G</a:t>
            </a:r>
            <a:endParaRPr lang="en-US" sz="1400" dirty="0"/>
          </a:p>
        </p:txBody>
      </p:sp>
      <p:sp>
        <p:nvSpPr>
          <p:cNvPr id="11" name="Key 2 0"/>
          <p:cNvSpPr/>
          <p:nvPr/>
        </p:nvSpPr>
        <p:spPr>
          <a:xfrm>
            <a:off x="1060704" y="3017520"/>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12" name="Key label 2 0"/>
          <p:cNvSpPr txBox="1"/>
          <p:nvPr/>
        </p:nvSpPr>
        <p:spPr>
          <a:xfrm>
            <a:off x="1060704" y="301752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3" name="Shortcut Lecture 2"/>
          <p:cNvSpPr txBox="1"/>
          <p:nvPr/>
        </p:nvSpPr>
        <p:spPr>
          <a:xfrm>
            <a:off x="1618488" y="3017520"/>
            <a:ext cx="1691640" cy="420624"/>
          </a:xfrm>
          <a:prstGeom prst="rect">
            <a:avLst/>
          </a:prstGeom>
          <a:noFill/>
          <a:ln/>
        </p:spPr>
        <p:txBody>
          <a:bodyPr wrap="square" lIns="0" tIns="0" rIns="0" bIns="0" rtlCol="0" anchor="ctr"/>
          <a:lstStyle/>
          <a:p>
            <a:pPr indent="0" marL="0">
              <a:buNone/>
            </a:pPr>
            <a:r>
              <a:rPr lang="en-US" sz="1400" dirty="0">
                <a:solidFill>
                  <a:schemeClr val="tx1"/>
                </a:solidFill>
              </a:rPr>
              <a:t>Lecture 2</a:t>
            </a:r>
            <a:endParaRPr lang="en-US" sz="1400" dirty="0"/>
          </a:p>
        </p:txBody>
      </p:sp>
      <p:sp>
        <p:nvSpPr>
          <p:cNvPr id="14" name="Key K 1"/>
          <p:cNvSpPr/>
          <p:nvPr/>
        </p:nvSpPr>
        <p:spPr>
          <a:xfrm>
            <a:off x="3291840" y="3017520"/>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15" name="Key label K 1"/>
          <p:cNvSpPr txBox="1"/>
          <p:nvPr/>
        </p:nvSpPr>
        <p:spPr>
          <a:xfrm>
            <a:off x="3291840" y="301752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K</a:t>
            </a:r>
            <a:endParaRPr lang="en-US" sz="1400" dirty="0"/>
          </a:p>
        </p:txBody>
      </p:sp>
      <p:sp>
        <p:nvSpPr>
          <p:cNvPr id="16" name="Key S 1"/>
          <p:cNvSpPr/>
          <p:nvPr/>
        </p:nvSpPr>
        <p:spPr>
          <a:xfrm>
            <a:off x="3803904" y="3017520"/>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17" name="Key label S 1"/>
          <p:cNvSpPr txBox="1"/>
          <p:nvPr/>
        </p:nvSpPr>
        <p:spPr>
          <a:xfrm>
            <a:off x="3803904" y="3017520"/>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S</a:t>
            </a:r>
            <a:endParaRPr lang="en-US" sz="1400" dirty="0"/>
          </a:p>
        </p:txBody>
      </p:sp>
      <p:sp>
        <p:nvSpPr>
          <p:cNvPr id="18" name="Shortcut Syllabus"/>
          <p:cNvSpPr txBox="1"/>
          <p:nvPr/>
        </p:nvSpPr>
        <p:spPr>
          <a:xfrm>
            <a:off x="4361688" y="3017520"/>
            <a:ext cx="1691640" cy="420624"/>
          </a:xfrm>
          <a:prstGeom prst="rect">
            <a:avLst/>
          </a:prstGeom>
          <a:noFill/>
          <a:ln/>
        </p:spPr>
        <p:txBody>
          <a:bodyPr wrap="square" lIns="0" tIns="0" rIns="0" bIns="0" rtlCol="0" anchor="ctr"/>
          <a:lstStyle/>
          <a:p>
            <a:pPr indent="0" marL="0">
              <a:buNone/>
            </a:pPr>
            <a:r>
              <a:rPr lang="en-US" sz="1400" dirty="0">
                <a:solidFill>
                  <a:schemeClr val="tx1"/>
                </a:solidFill>
              </a:rPr>
              <a:t>Syllabus</a:t>
            </a:r>
            <a:endParaRPr lang="en-US" sz="1400" dirty="0"/>
          </a:p>
        </p:txBody>
      </p:sp>
      <p:sp>
        <p:nvSpPr>
          <p:cNvPr id="19" name="Key L 2"/>
          <p:cNvSpPr/>
          <p:nvPr/>
        </p:nvSpPr>
        <p:spPr>
          <a:xfrm>
            <a:off x="548640" y="3621024"/>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20" name="Key label L 2"/>
          <p:cNvSpPr txBox="1"/>
          <p:nvPr/>
        </p:nvSpPr>
        <p:spPr>
          <a:xfrm>
            <a:off x="548640" y="3621024"/>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L</a:t>
            </a:r>
            <a:endParaRPr lang="en-US" sz="1400" dirty="0"/>
          </a:p>
        </p:txBody>
      </p:sp>
      <p:sp>
        <p:nvSpPr>
          <p:cNvPr id="21" name="Shortcut Link two slides"/>
          <p:cNvSpPr txBox="1"/>
          <p:nvPr/>
        </p:nvSpPr>
        <p:spPr>
          <a:xfrm>
            <a:off x="1106424" y="3621024"/>
            <a:ext cx="1691640" cy="420624"/>
          </a:xfrm>
          <a:prstGeom prst="rect">
            <a:avLst/>
          </a:prstGeom>
          <a:noFill/>
          <a:ln/>
        </p:spPr>
        <p:txBody>
          <a:bodyPr wrap="square" lIns="0" tIns="0" rIns="0" bIns="0" rtlCol="0" anchor="ctr"/>
          <a:lstStyle/>
          <a:p>
            <a:pPr indent="0" marL="0">
              <a:buNone/>
            </a:pPr>
            <a:r>
              <a:rPr lang="en-US" sz="1400" dirty="0">
                <a:solidFill>
                  <a:schemeClr val="tx1"/>
                </a:solidFill>
              </a:rPr>
              <a:t>Link two slides</a:t>
            </a:r>
            <a:endParaRPr lang="en-US" sz="1400" dirty="0"/>
          </a:p>
        </p:txBody>
      </p:sp>
      <p:sp>
        <p:nvSpPr>
          <p:cNvPr id="22" name="Key J 3"/>
          <p:cNvSpPr/>
          <p:nvPr/>
        </p:nvSpPr>
        <p:spPr>
          <a:xfrm>
            <a:off x="3291840" y="3621024"/>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23" name="Key label J 3"/>
          <p:cNvSpPr txBox="1"/>
          <p:nvPr/>
        </p:nvSpPr>
        <p:spPr>
          <a:xfrm>
            <a:off x="3291840" y="3621024"/>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J</a:t>
            </a:r>
            <a:endParaRPr lang="en-US" sz="1400" dirty="0"/>
          </a:p>
        </p:txBody>
      </p:sp>
      <p:sp>
        <p:nvSpPr>
          <p:cNvPr id="24" name="Shortcut Jump there, and back"/>
          <p:cNvSpPr txBox="1"/>
          <p:nvPr/>
        </p:nvSpPr>
        <p:spPr>
          <a:xfrm>
            <a:off x="3849624" y="3621024"/>
            <a:ext cx="1691640" cy="420624"/>
          </a:xfrm>
          <a:prstGeom prst="rect">
            <a:avLst/>
          </a:prstGeom>
          <a:noFill/>
          <a:ln/>
        </p:spPr>
        <p:txBody>
          <a:bodyPr wrap="square" lIns="0" tIns="0" rIns="0" bIns="0" rtlCol="0" anchor="ctr"/>
          <a:lstStyle/>
          <a:p>
            <a:pPr indent="0" marL="0">
              <a:buNone/>
            </a:pPr>
            <a:r>
              <a:rPr lang="en-US" sz="1400" dirty="0">
                <a:solidFill>
                  <a:schemeClr val="tx1"/>
                </a:solidFill>
              </a:rPr>
              <a:t>Jump there, and back</a:t>
            </a:r>
            <a:endParaRPr lang="en-US" sz="1400" dirty="0"/>
          </a:p>
        </p:txBody>
      </p:sp>
      <p:sp>
        <p:nvSpPr>
          <p:cNvPr id="25" name="Key / 4"/>
          <p:cNvSpPr/>
          <p:nvPr/>
        </p:nvSpPr>
        <p:spPr>
          <a:xfrm>
            <a:off x="548640" y="4224528"/>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26" name="Key label / 4"/>
          <p:cNvSpPr txBox="1"/>
          <p:nvPr/>
        </p:nvSpPr>
        <p:spPr>
          <a:xfrm>
            <a:off x="548640" y="4224528"/>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a:t>
            </a:r>
            <a:endParaRPr lang="en-US" sz="1400" dirty="0"/>
          </a:p>
        </p:txBody>
      </p:sp>
      <p:sp>
        <p:nvSpPr>
          <p:cNvPr id="27" name="Shortcut Study Partner"/>
          <p:cNvSpPr txBox="1"/>
          <p:nvPr/>
        </p:nvSpPr>
        <p:spPr>
          <a:xfrm>
            <a:off x="1106424" y="4224528"/>
            <a:ext cx="1691640" cy="420624"/>
          </a:xfrm>
          <a:prstGeom prst="rect">
            <a:avLst/>
          </a:prstGeom>
          <a:noFill/>
          <a:ln/>
        </p:spPr>
        <p:txBody>
          <a:bodyPr wrap="square" lIns="0" tIns="0" rIns="0" bIns="0" rtlCol="0" anchor="ctr"/>
          <a:lstStyle/>
          <a:p>
            <a:pPr indent="0" marL="0">
              <a:buNone/>
            </a:pPr>
            <a:r>
              <a:rPr lang="en-US" sz="1400" dirty="0">
                <a:solidFill>
                  <a:schemeClr val="tx1"/>
                </a:solidFill>
              </a:rPr>
              <a:t>Study Partner</a:t>
            </a:r>
            <a:endParaRPr lang="en-US" sz="1400" dirty="0"/>
          </a:p>
        </p:txBody>
      </p:sp>
      <p:sp>
        <p:nvSpPr>
          <p:cNvPr id="28" name="Key G 5"/>
          <p:cNvSpPr/>
          <p:nvPr/>
        </p:nvSpPr>
        <p:spPr>
          <a:xfrm>
            <a:off x="3291840" y="4224528"/>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29" name="Key label G 5"/>
          <p:cNvSpPr txBox="1"/>
          <p:nvPr/>
        </p:nvSpPr>
        <p:spPr>
          <a:xfrm>
            <a:off x="3291840" y="4224528"/>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G</a:t>
            </a:r>
            <a:endParaRPr lang="en-US" sz="1400" dirty="0"/>
          </a:p>
        </p:txBody>
      </p:sp>
      <p:sp>
        <p:nvSpPr>
          <p:cNvPr id="30" name="Key B 5"/>
          <p:cNvSpPr/>
          <p:nvPr/>
        </p:nvSpPr>
        <p:spPr>
          <a:xfrm>
            <a:off x="3803904" y="4224528"/>
            <a:ext cx="420624" cy="420624"/>
          </a:xfrm>
          <a:prstGeom prst="roundRect">
            <a:avLst>
              <a:gd name="adj" fmla="val 17391"/>
            </a:avLst>
          </a:prstGeom>
          <a:solidFill>
            <a:schemeClr val="bg1"/>
          </a:solidFill>
          <a:ln w="15875">
            <a:solidFill>
              <a:schemeClr val="tx2"/>
            </a:solidFill>
            <a:prstDash val="solid"/>
          </a:ln>
          <a:effectLst>
            <a:outerShdw sx="100000" sy="100000" kx="0" ky="0" algn="bl" rotWithShape="0" blurRad="101600" dist="25400" dir="5400000">
              <a:srgbClr val="193B5A">
                <a:alpha val="25000"/>
              </a:srgbClr>
            </a:outerShdw>
          </a:effectLst>
        </p:spPr>
      </p:sp>
      <p:sp>
        <p:nvSpPr>
          <p:cNvPr id="31" name="Key label B 5"/>
          <p:cNvSpPr txBox="1"/>
          <p:nvPr/>
        </p:nvSpPr>
        <p:spPr>
          <a:xfrm>
            <a:off x="3803904" y="4224528"/>
            <a:ext cx="420624" cy="420624"/>
          </a:xfrm>
          <a:prstGeom prst="rect">
            <a:avLst/>
          </a:prstGeom>
          <a:noFill/>
          <a:ln/>
        </p:spPr>
        <p:txBody>
          <a:bodyPr wrap="square" lIns="0" tIns="0" rIns="0" bIns="0" rtlCol="0" anchor="ctr"/>
          <a:lstStyle/>
          <a:p>
            <a:pPr algn="ctr" indent="0" marL="0">
              <a:buNone/>
            </a:pPr>
            <a:r>
              <a:rPr lang="en-US" sz="1400" b="1" dirty="0">
                <a:solidFill>
                  <a:schemeClr val="tx2"/>
                </a:solidFill>
              </a:rPr>
              <a:t>B</a:t>
            </a:r>
            <a:endParaRPr lang="en-US" sz="1400" dirty="0"/>
          </a:p>
        </p:txBody>
      </p:sp>
      <p:sp>
        <p:nvSpPr>
          <p:cNvPr id="32" name="Shortcut Web browser"/>
          <p:cNvSpPr txBox="1"/>
          <p:nvPr/>
        </p:nvSpPr>
        <p:spPr>
          <a:xfrm>
            <a:off x="4361688" y="4224528"/>
            <a:ext cx="1691640" cy="420624"/>
          </a:xfrm>
          <a:prstGeom prst="rect">
            <a:avLst/>
          </a:prstGeom>
          <a:noFill/>
          <a:ln/>
        </p:spPr>
        <p:txBody>
          <a:bodyPr wrap="square" lIns="0" tIns="0" rIns="0" bIns="0" rtlCol="0" anchor="ctr"/>
          <a:lstStyle/>
          <a:p>
            <a:pPr indent="0" marL="0">
              <a:buNone/>
            </a:pPr>
            <a:r>
              <a:rPr lang="en-US" sz="1400" dirty="0">
                <a:solidFill>
                  <a:schemeClr val="tx1"/>
                </a:solidFill>
              </a:rPr>
              <a:t>Web browser</a:t>
            </a:r>
            <a:endParaRPr lang="en-US" sz="1400" dirty="0"/>
          </a:p>
        </p:txBody>
      </p:sp>
      <p:sp>
        <p:nvSpPr>
          <p:cNvPr id="33" name="Browser icon circle"/>
          <p:cNvSpPr/>
          <p:nvPr/>
        </p:nvSpPr>
        <p:spPr>
          <a:xfrm>
            <a:off x="548640" y="4983480"/>
            <a:ext cx="566928" cy="566928"/>
          </a:xfrm>
          <a:prstGeom prst="ellipse">
            <a:avLst/>
          </a:prstGeom>
          <a:solidFill>
            <a:schemeClr val="accent2"/>
          </a:solidFill>
          <a:ln w="12700">
            <a:solidFill>
              <a:schemeClr val="accent2"/>
            </a:solidFill>
            <a:prstDash val="solid"/>
          </a:ln>
        </p:spPr>
      </p:sp>
      <p:pic>
        <p:nvPicPr>
          <p:cNvPr id="34" name="Browser icon" descr="preencoded.png">    </p:cNvPr>
          <p:cNvPicPr>
            <a:picLocks noChangeAspect="1"/>
          </p:cNvPicPr>
          <p:nvPr/>
        </p:nvPicPr>
        <p:blipFill>
          <a:blip r:embed="rId2"/>
          <a:stretch>
            <a:fillRect/>
          </a:stretch>
        </p:blipFill>
        <p:spPr>
          <a:xfrm>
            <a:off x="701711" y="5136551"/>
            <a:ext cx="260787" cy="260787"/>
          </a:xfrm>
          <a:prstGeom prst="rect">
            <a:avLst/>
          </a:prstGeom>
        </p:spPr>
      </p:pic>
      <p:sp>
        <p:nvSpPr>
          <p:cNvPr id="35" name="Browser heading"/>
          <p:cNvSpPr txBox="1"/>
          <p:nvPr/>
        </p:nvSpPr>
        <p:spPr>
          <a:xfrm>
            <a:off x="1325880" y="4956048"/>
            <a:ext cx="4846320" cy="347472"/>
          </a:xfrm>
          <a:prstGeom prst="rect">
            <a:avLst/>
          </a:prstGeom>
          <a:noFill/>
          <a:ln/>
        </p:spPr>
        <p:txBody>
          <a:bodyPr wrap="square" lIns="0" tIns="0" rIns="0" bIns="0" rtlCol="0" anchor="t"/>
          <a:lstStyle/>
          <a:p>
            <a:pPr indent="0" marL="0">
              <a:buNone/>
            </a:pPr>
            <a:r>
              <a:rPr lang="en-US" sz="1800" b="1" dirty="0">
                <a:solidFill>
                  <a:schemeClr val="tx2"/>
                </a:solidFill>
              </a:rPr>
              <a:t>A mini web browser inside Smazy</a:t>
            </a:r>
            <a:endParaRPr lang="en-US" sz="1800" dirty="0"/>
          </a:p>
        </p:txBody>
      </p:sp>
      <p:sp>
        <p:nvSpPr>
          <p:cNvPr id="36" name="Browser text"/>
          <p:cNvSpPr txBox="1"/>
          <p:nvPr/>
        </p:nvSpPr>
        <p:spPr>
          <a:xfrm>
            <a:off x="1325880" y="5312664"/>
            <a:ext cx="4846320" cy="548640"/>
          </a:xfrm>
          <a:prstGeom prst="rect">
            <a:avLst/>
          </a:prstGeom>
          <a:noFill/>
          <a:ln/>
        </p:spPr>
        <p:txBody>
          <a:bodyPr wrap="square" lIns="0" tIns="0" rIns="0" bIns="0" rtlCol="0" anchor="t"/>
          <a:lstStyle/>
          <a:p>
            <a:pPr indent="0" marL="0">
              <a:buNone/>
            </a:pPr>
            <a:r>
              <a:rPr lang="en-US" sz="1400" dirty="0">
                <a:solidFill>
                  <a:schemeClr val="tx1"/>
                </a:solidFill>
              </a:rPr>
              <a:t>Search and read without leaving. Web links on your slides open in it too.</a:t>
            </a:r>
            <a:endParaRPr lang="en-US" sz="1400" dirty="0"/>
          </a:p>
        </p:txBody>
      </p:sp>
      <p:sp>
        <p:nvSpPr>
          <p:cNvPr id="37" name="Browser screenshot frame"/>
          <p:cNvSpPr/>
          <p:nvPr/>
        </p:nvSpPr>
        <p:spPr>
          <a:xfrm>
            <a:off x="7168896" y="1728216"/>
            <a:ext cx="4498848" cy="2734056"/>
          </a:xfrm>
          <a:prstGeom prst="roundRect">
            <a:avLst>
              <a:gd name="adj" fmla="val 2676"/>
            </a:avLst>
          </a:prstGeom>
          <a:solidFill>
            <a:schemeClr val="bg1"/>
          </a:solidFill>
          <a:ln w="9525">
            <a:solidFill>
              <a:srgbClr val="D9D4CA"/>
            </a:solidFill>
            <a:prstDash val="solid"/>
          </a:ln>
          <a:effectLst>
            <a:outerShdw sx="100000" sy="100000" kx="0" ky="0" algn="bl" rotWithShape="0" blurRad="177800" dist="50800" dir="5400000">
              <a:srgbClr val="193B5A">
                <a:alpha val="18000"/>
              </a:srgbClr>
            </a:outerShdw>
          </a:effectLst>
        </p:spPr>
      </p:sp>
      <p:pic>
        <p:nvPicPr>
          <p:cNvPr id="38" name="Browser screenshot" descr="img/browser.png">    </p:cNvPr>
          <p:cNvPicPr>
            <a:picLocks noChangeAspect="1"/>
          </p:cNvPicPr>
          <p:nvPr/>
        </p:nvPicPr>
        <p:blipFill>
          <a:blip r:embed="rId3"/>
          <a:stretch>
            <a:fillRect/>
          </a:stretch>
        </p:blipFill>
        <p:spPr>
          <a:xfrm>
            <a:off x="7223760" y="1783080"/>
            <a:ext cx="4389120" cy="2624328"/>
          </a:xfrm>
          <a:prstGeom prst="rect">
            <a:avLst/>
          </a:prstGeom>
        </p:spPr>
      </p:pic>
      <p:sp>
        <p:nvSpPr>
          <p:cNvPr id="39" name="Linked slide screenshot frame"/>
          <p:cNvSpPr/>
          <p:nvPr/>
        </p:nvSpPr>
        <p:spPr>
          <a:xfrm>
            <a:off x="7168896" y="4535424"/>
            <a:ext cx="2121408" cy="1618488"/>
          </a:xfrm>
          <a:prstGeom prst="roundRect">
            <a:avLst>
              <a:gd name="adj" fmla="val 4520"/>
            </a:avLst>
          </a:prstGeom>
          <a:solidFill>
            <a:schemeClr val="bg1"/>
          </a:solidFill>
          <a:ln w="9525">
            <a:solidFill>
              <a:srgbClr val="D9D4CA"/>
            </a:solidFill>
            <a:prstDash val="solid"/>
          </a:ln>
          <a:effectLst>
            <a:outerShdw sx="100000" sy="100000" kx="0" ky="0" algn="bl" rotWithShape="0" blurRad="177800" dist="50800" dir="5400000">
              <a:srgbClr val="193B5A">
                <a:alpha val="18000"/>
              </a:srgbClr>
            </a:outerShdw>
          </a:effectLst>
        </p:spPr>
      </p:sp>
      <p:pic>
        <p:nvPicPr>
          <p:cNvPr id="40" name="Linked slide screenshot" descr="img/link-crop.png">    </p:cNvPr>
          <p:cNvPicPr>
            <a:picLocks noChangeAspect="1"/>
          </p:cNvPicPr>
          <p:nvPr/>
        </p:nvPicPr>
        <p:blipFill>
          <a:blip r:embed="rId4"/>
          <a:stretch>
            <a:fillRect/>
          </a:stretch>
        </p:blipFill>
        <p:spPr>
          <a:xfrm>
            <a:off x="7223760" y="4590288"/>
            <a:ext cx="2011680" cy="1508760"/>
          </a:xfrm>
          <a:prstGeom prst="rect">
            <a:avLst/>
          </a:prstGeom>
        </p:spPr>
      </p:pic>
      <p:sp>
        <p:nvSpPr>
          <p:cNvPr id="41" name="Links captions"/>
          <p:cNvSpPr txBox="1"/>
          <p:nvPr/>
        </p:nvSpPr>
        <p:spPr>
          <a:xfrm>
            <a:off x="9418320" y="4590288"/>
            <a:ext cx="2194560" cy="1508760"/>
          </a:xfrm>
          <a:prstGeom prst="rect">
            <a:avLst/>
          </a:prstGeom>
          <a:noFill/>
          <a:ln/>
        </p:spPr>
        <p:txBody>
          <a:bodyPr wrap="square" lIns="0" tIns="0" rIns="0" bIns="0" rtlCol="0" anchor="ctr"/>
          <a:lstStyle/>
          <a:p>
            <a:pPr indent="0" marL="0">
              <a:buNone/>
            </a:pPr>
            <a:r>
              <a:rPr lang="en-US" sz="1100" b="1" i="1" dirty="0">
                <a:solidFill>
                  <a:schemeClr val="accent5"/>
                </a:solidFill>
              </a:rPr>
              <a:t>Above: </a:t>
            </a:r>
            <a:pPr indent="0" marL="0">
              <a:buNone/>
            </a:pPr>
            <a:r>
              <a:rPr lang="en-US" sz="1100" i="1" dirty="0">
                <a:solidFill>
                  <a:schemeClr val="accent5"/>
                </a:solidFill>
              </a:rPr>
              <a:t>a web search opened with G B, without leaving Smazy.</a:t>
            </a:r>
            <a:endParaRPr lang="en-US" sz="1100" dirty="0"/>
          </a:p>
          <a:p>
            <a:pPr indent="0" marL="0">
              <a:buNone/>
            </a:pPr>
            <a:r>
              <a:rPr lang="en-US" sz="1100" b="1" i="1" dirty="0">
                <a:solidFill>
                  <a:schemeClr val="accent5"/>
                </a:solidFill>
              </a:rPr>
              <a:t>Left: </a:t>
            </a:r>
            <a:pPr indent="0" marL="0">
              <a:buNone/>
            </a:pPr>
            <a:r>
              <a:rPr lang="en-US" sz="1100" i="1" dirty="0">
                <a:solidFill>
                  <a:schemeClr val="accent5"/>
                </a:solidFill>
              </a:rPr>
              <a:t>a sticky note linking to Lecture 1, slide 12.</a:t>
            </a:r>
            <a:endParaRPr lang="en-US" sz="1100" dirty="0"/>
          </a:p>
        </p:txBody>
      </p:sp>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FEATURE 3  ·  ORGANIZED CONVERSATION PANEL</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Rewind your learning, not another chat</a:t>
            </a:r>
            <a:endParaRPr lang="en-US" sz="3200" dirty="0"/>
          </a:p>
        </p:txBody>
      </p:sp>
      <p:sp>
        <p:nvSpPr>
          <p:cNvPr id="5" name="Panel tile 1"/>
          <p:cNvSpPr/>
          <p:nvPr/>
        </p:nvSpPr>
        <p:spPr>
          <a:xfrm>
            <a:off x="548640" y="1783080"/>
            <a:ext cx="2971800" cy="1298448"/>
          </a:xfrm>
          <a:prstGeom prst="roundRect">
            <a:avLst>
              <a:gd name="adj" fmla="val 7042"/>
            </a:avLst>
          </a:prstGeom>
          <a:solidFill>
            <a:schemeClr val="bg2"/>
          </a:solidFill>
          <a:ln w="12700">
            <a:solidFill>
              <a:schemeClr val="bg2"/>
            </a:solidFill>
            <a:prstDash val="solid"/>
          </a:ln>
        </p:spPr>
      </p:sp>
      <p:sp>
        <p:nvSpPr>
          <p:cNvPr id="6" name="Panel icon 1 circle"/>
          <p:cNvSpPr/>
          <p:nvPr/>
        </p:nvSpPr>
        <p:spPr>
          <a:xfrm>
            <a:off x="731520" y="1947672"/>
            <a:ext cx="420624" cy="420624"/>
          </a:xfrm>
          <a:prstGeom prst="ellipse">
            <a:avLst/>
          </a:prstGeom>
          <a:solidFill>
            <a:schemeClr val="tx2"/>
          </a:solidFill>
          <a:ln w="12700">
            <a:solidFill>
              <a:schemeClr val="tx2"/>
            </a:solidFill>
            <a:prstDash val="solid"/>
          </a:ln>
        </p:spPr>
      </p:sp>
      <p:pic>
        <p:nvPicPr>
          <p:cNvPr id="7" name="Panel icon 1" descr="preencoded.png">    </p:cNvPr>
          <p:cNvPicPr>
            <a:picLocks noChangeAspect="1"/>
          </p:cNvPicPr>
          <p:nvPr/>
        </p:nvPicPr>
        <p:blipFill>
          <a:blip r:embed="rId1"/>
          <a:stretch>
            <a:fillRect/>
          </a:stretch>
        </p:blipFill>
        <p:spPr>
          <a:xfrm>
            <a:off x="845088" y="2061240"/>
            <a:ext cx="193487" cy="193487"/>
          </a:xfrm>
          <a:prstGeom prst="rect">
            <a:avLst/>
          </a:prstGeom>
        </p:spPr>
      </p:pic>
      <p:sp>
        <p:nvSpPr>
          <p:cNvPr id="8" name="Panel heading 1"/>
          <p:cNvSpPr txBox="1"/>
          <p:nvPr/>
        </p:nvSpPr>
        <p:spPr>
          <a:xfrm>
            <a:off x="1261872" y="1911096"/>
            <a:ext cx="2194560" cy="274320"/>
          </a:xfrm>
          <a:prstGeom prst="rect">
            <a:avLst/>
          </a:prstGeom>
          <a:noFill/>
          <a:ln/>
        </p:spPr>
        <p:txBody>
          <a:bodyPr wrap="square" lIns="0" tIns="0" rIns="0" bIns="0" rtlCol="0" anchor="ctr"/>
          <a:lstStyle/>
          <a:p>
            <a:pPr indent="0" marL="0">
              <a:buNone/>
            </a:pPr>
            <a:r>
              <a:rPr lang="en-US" sz="1450" b="1" dirty="0">
                <a:solidFill>
                  <a:schemeClr val="tx2"/>
                </a:solidFill>
              </a:rPr>
              <a:t>Chats pinned to slides</a:t>
            </a:r>
            <a:endParaRPr lang="en-US" sz="1450" dirty="0"/>
          </a:p>
        </p:txBody>
      </p:sp>
      <p:sp>
        <p:nvSpPr>
          <p:cNvPr id="9" name="Panel status 1 pill"/>
          <p:cNvSpPr/>
          <p:nvPr/>
        </p:nvSpPr>
        <p:spPr>
          <a:xfrm>
            <a:off x="1261872" y="2212848"/>
            <a:ext cx="713232" cy="246888"/>
          </a:xfrm>
          <a:prstGeom prst="roundRect">
            <a:avLst>
              <a:gd name="adj" fmla="val 48148"/>
            </a:avLst>
          </a:prstGeom>
          <a:solidFill>
            <a:schemeClr val="accent3"/>
          </a:solidFill>
          <a:ln w="12700">
            <a:solidFill>
              <a:schemeClr val="accent3"/>
            </a:solidFill>
            <a:prstDash val="solid"/>
          </a:ln>
        </p:spPr>
      </p:sp>
      <p:sp>
        <p:nvSpPr>
          <p:cNvPr id="10" name="Panel status 1"/>
          <p:cNvSpPr txBox="1"/>
          <p:nvPr/>
        </p:nvSpPr>
        <p:spPr>
          <a:xfrm>
            <a:off x="1261872" y="2212848"/>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11" name="Panel text 1"/>
          <p:cNvSpPr txBox="1"/>
          <p:nvPr/>
        </p:nvSpPr>
        <p:spPr>
          <a:xfrm>
            <a:off x="731520" y="2551176"/>
            <a:ext cx="2651760" cy="475488"/>
          </a:xfrm>
          <a:prstGeom prst="rect">
            <a:avLst/>
          </a:prstGeom>
          <a:noFill/>
          <a:ln/>
        </p:spPr>
        <p:txBody>
          <a:bodyPr wrap="square" lIns="0" tIns="0" rIns="0" bIns="0" rtlCol="0" anchor="t"/>
          <a:lstStyle/>
          <a:p>
            <a:pPr indent="0" marL="0">
              <a:buNone/>
            </a:pPr>
            <a:r>
              <a:rPr lang="en-US" sz="1200" dirty="0">
                <a:solidFill>
                  <a:schemeClr val="tx1"/>
                </a:solidFill>
              </a:rPr>
              <a:t>Each slide keeps its own conversation. Come back and it’s there.</a:t>
            </a:r>
            <a:endParaRPr lang="en-US" sz="1200" dirty="0"/>
          </a:p>
        </p:txBody>
      </p:sp>
      <p:sp>
        <p:nvSpPr>
          <p:cNvPr id="12" name="Panel tile 2"/>
          <p:cNvSpPr/>
          <p:nvPr/>
        </p:nvSpPr>
        <p:spPr>
          <a:xfrm>
            <a:off x="3703320" y="1783080"/>
            <a:ext cx="2971800" cy="1298448"/>
          </a:xfrm>
          <a:prstGeom prst="roundRect">
            <a:avLst>
              <a:gd name="adj" fmla="val 7042"/>
            </a:avLst>
          </a:prstGeom>
          <a:solidFill>
            <a:schemeClr val="bg2"/>
          </a:solidFill>
          <a:ln w="12700">
            <a:solidFill>
              <a:schemeClr val="bg2"/>
            </a:solidFill>
            <a:prstDash val="solid"/>
          </a:ln>
        </p:spPr>
      </p:sp>
      <p:sp>
        <p:nvSpPr>
          <p:cNvPr id="13" name="Panel icon 2 circle"/>
          <p:cNvSpPr/>
          <p:nvPr/>
        </p:nvSpPr>
        <p:spPr>
          <a:xfrm>
            <a:off x="3886200" y="1947672"/>
            <a:ext cx="420624" cy="420624"/>
          </a:xfrm>
          <a:prstGeom prst="ellipse">
            <a:avLst/>
          </a:prstGeom>
          <a:solidFill>
            <a:schemeClr val="tx2"/>
          </a:solidFill>
          <a:ln w="12700">
            <a:solidFill>
              <a:schemeClr val="tx2"/>
            </a:solidFill>
            <a:prstDash val="solid"/>
          </a:ln>
        </p:spPr>
      </p:sp>
      <p:pic>
        <p:nvPicPr>
          <p:cNvPr id="14" name="Panel icon 2" descr="preencoded.png">    </p:cNvPr>
          <p:cNvPicPr>
            <a:picLocks noChangeAspect="1"/>
          </p:cNvPicPr>
          <p:nvPr/>
        </p:nvPicPr>
        <p:blipFill>
          <a:blip r:embed="rId2"/>
          <a:stretch>
            <a:fillRect/>
          </a:stretch>
        </p:blipFill>
        <p:spPr>
          <a:xfrm>
            <a:off x="3999768" y="2061240"/>
            <a:ext cx="193487" cy="193487"/>
          </a:xfrm>
          <a:prstGeom prst="rect">
            <a:avLst/>
          </a:prstGeom>
        </p:spPr>
      </p:pic>
      <p:sp>
        <p:nvSpPr>
          <p:cNvPr id="15" name="Panel heading 2"/>
          <p:cNvSpPr txBox="1"/>
          <p:nvPr/>
        </p:nvSpPr>
        <p:spPr>
          <a:xfrm>
            <a:off x="4416552" y="1911096"/>
            <a:ext cx="2194560" cy="274320"/>
          </a:xfrm>
          <a:prstGeom prst="rect">
            <a:avLst/>
          </a:prstGeom>
          <a:noFill/>
          <a:ln/>
        </p:spPr>
        <p:txBody>
          <a:bodyPr wrap="square" lIns="0" tIns="0" rIns="0" bIns="0" rtlCol="0" anchor="ctr"/>
          <a:lstStyle/>
          <a:p>
            <a:pPr indent="0" marL="0">
              <a:buNone/>
            </a:pPr>
            <a:r>
              <a:rPr lang="en-US" sz="1450" b="1" dirty="0">
                <a:solidFill>
                  <a:schemeClr val="tx2"/>
                </a:solidFill>
              </a:rPr>
              <a:t>Follow-ups as branches</a:t>
            </a:r>
            <a:endParaRPr lang="en-US" sz="1450" dirty="0"/>
          </a:p>
        </p:txBody>
      </p:sp>
      <p:sp>
        <p:nvSpPr>
          <p:cNvPr id="16" name="Panel status 2 pill"/>
          <p:cNvSpPr/>
          <p:nvPr/>
        </p:nvSpPr>
        <p:spPr>
          <a:xfrm>
            <a:off x="4416552" y="2212848"/>
            <a:ext cx="713232" cy="246888"/>
          </a:xfrm>
          <a:prstGeom prst="roundRect">
            <a:avLst>
              <a:gd name="adj" fmla="val 48148"/>
            </a:avLst>
          </a:prstGeom>
          <a:solidFill>
            <a:schemeClr val="accent3"/>
          </a:solidFill>
          <a:ln w="12700">
            <a:solidFill>
              <a:schemeClr val="accent3"/>
            </a:solidFill>
            <a:prstDash val="solid"/>
          </a:ln>
        </p:spPr>
      </p:sp>
      <p:sp>
        <p:nvSpPr>
          <p:cNvPr id="17" name="Panel status 2"/>
          <p:cNvSpPr txBox="1"/>
          <p:nvPr/>
        </p:nvSpPr>
        <p:spPr>
          <a:xfrm>
            <a:off x="4416552" y="2212848"/>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18" name="Panel text 2"/>
          <p:cNvSpPr txBox="1"/>
          <p:nvPr/>
        </p:nvSpPr>
        <p:spPr>
          <a:xfrm>
            <a:off x="3886200" y="2551176"/>
            <a:ext cx="2651760" cy="475488"/>
          </a:xfrm>
          <a:prstGeom prst="rect">
            <a:avLst/>
          </a:prstGeom>
          <a:noFill/>
          <a:ln/>
        </p:spPr>
        <p:txBody>
          <a:bodyPr wrap="square" lIns="0" tIns="0" rIns="0" bIns="0" rtlCol="0" anchor="t"/>
          <a:lstStyle/>
          <a:p>
            <a:pPr indent="0" marL="0">
              <a:buNone/>
            </a:pPr>
            <a:r>
              <a:rPr lang="en-US" sz="1200" dirty="0">
                <a:solidFill>
                  <a:schemeClr val="tx1"/>
                </a:solidFill>
              </a:rPr>
              <a:t>The AI spots follow-up questions and files them under the answer they build on.</a:t>
            </a:r>
            <a:endParaRPr lang="en-US" sz="1200" dirty="0"/>
          </a:p>
        </p:txBody>
      </p:sp>
      <p:sp>
        <p:nvSpPr>
          <p:cNvPr id="19" name="Panel tile 3"/>
          <p:cNvSpPr/>
          <p:nvPr/>
        </p:nvSpPr>
        <p:spPr>
          <a:xfrm>
            <a:off x="548640" y="3246120"/>
            <a:ext cx="2971800" cy="1298448"/>
          </a:xfrm>
          <a:prstGeom prst="roundRect">
            <a:avLst>
              <a:gd name="adj" fmla="val 7042"/>
            </a:avLst>
          </a:prstGeom>
          <a:solidFill>
            <a:schemeClr val="bg2"/>
          </a:solidFill>
          <a:ln w="12700">
            <a:solidFill>
              <a:schemeClr val="bg2"/>
            </a:solidFill>
            <a:prstDash val="solid"/>
          </a:ln>
        </p:spPr>
      </p:sp>
      <p:sp>
        <p:nvSpPr>
          <p:cNvPr id="20" name="Panel icon 3 circle"/>
          <p:cNvSpPr/>
          <p:nvPr/>
        </p:nvSpPr>
        <p:spPr>
          <a:xfrm>
            <a:off x="731520" y="3410712"/>
            <a:ext cx="420624" cy="420624"/>
          </a:xfrm>
          <a:prstGeom prst="ellipse">
            <a:avLst/>
          </a:prstGeom>
          <a:solidFill>
            <a:schemeClr val="tx2"/>
          </a:solidFill>
          <a:ln w="12700">
            <a:solidFill>
              <a:schemeClr val="tx2"/>
            </a:solidFill>
            <a:prstDash val="solid"/>
          </a:ln>
        </p:spPr>
      </p:sp>
      <p:pic>
        <p:nvPicPr>
          <p:cNvPr id="21" name="Panel icon 3" descr="preencoded.png">    </p:cNvPr>
          <p:cNvPicPr>
            <a:picLocks noChangeAspect="1"/>
          </p:cNvPicPr>
          <p:nvPr/>
        </p:nvPicPr>
        <p:blipFill>
          <a:blip r:embed="rId3"/>
          <a:stretch>
            <a:fillRect/>
          </a:stretch>
        </p:blipFill>
        <p:spPr>
          <a:xfrm>
            <a:off x="845088" y="3524280"/>
            <a:ext cx="193487" cy="193487"/>
          </a:xfrm>
          <a:prstGeom prst="rect">
            <a:avLst/>
          </a:prstGeom>
        </p:spPr>
      </p:pic>
      <p:sp>
        <p:nvSpPr>
          <p:cNvPr id="22" name="Panel heading 3"/>
          <p:cNvSpPr txBox="1"/>
          <p:nvPr/>
        </p:nvSpPr>
        <p:spPr>
          <a:xfrm>
            <a:off x="1261872" y="3374136"/>
            <a:ext cx="2194560" cy="274320"/>
          </a:xfrm>
          <a:prstGeom prst="rect">
            <a:avLst/>
          </a:prstGeom>
          <a:noFill/>
          <a:ln/>
        </p:spPr>
        <p:txBody>
          <a:bodyPr wrap="square" lIns="0" tIns="0" rIns="0" bIns="0" rtlCol="0" anchor="ctr"/>
          <a:lstStyle/>
          <a:p>
            <a:pPr indent="0" marL="0">
              <a:buNone/>
            </a:pPr>
            <a:r>
              <a:rPr lang="en-US" sz="1450" b="1" dirty="0">
                <a:solidFill>
                  <a:schemeClr val="tx2"/>
                </a:solidFill>
              </a:rPr>
              <a:t>History tree</a:t>
            </a:r>
            <a:endParaRPr lang="en-US" sz="1450" dirty="0"/>
          </a:p>
        </p:txBody>
      </p:sp>
      <p:sp>
        <p:nvSpPr>
          <p:cNvPr id="23" name="Panel status 3 pill"/>
          <p:cNvSpPr/>
          <p:nvPr/>
        </p:nvSpPr>
        <p:spPr>
          <a:xfrm>
            <a:off x="1261872" y="3675888"/>
            <a:ext cx="713232" cy="246888"/>
          </a:xfrm>
          <a:prstGeom prst="roundRect">
            <a:avLst>
              <a:gd name="adj" fmla="val 48148"/>
            </a:avLst>
          </a:prstGeom>
          <a:solidFill>
            <a:schemeClr val="accent3"/>
          </a:solidFill>
          <a:ln w="12700">
            <a:solidFill>
              <a:schemeClr val="accent3"/>
            </a:solidFill>
            <a:prstDash val="solid"/>
          </a:ln>
        </p:spPr>
      </p:sp>
      <p:sp>
        <p:nvSpPr>
          <p:cNvPr id="24" name="Panel status 3"/>
          <p:cNvSpPr txBox="1"/>
          <p:nvPr/>
        </p:nvSpPr>
        <p:spPr>
          <a:xfrm>
            <a:off x="1261872" y="3675888"/>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25" name="Panel text 3"/>
          <p:cNvSpPr txBox="1"/>
          <p:nvPr/>
        </p:nvSpPr>
        <p:spPr>
          <a:xfrm>
            <a:off x="731520" y="4014216"/>
            <a:ext cx="2651760" cy="475488"/>
          </a:xfrm>
          <a:prstGeom prst="rect">
            <a:avLst/>
          </a:prstGeom>
          <a:noFill/>
          <a:ln/>
        </p:spPr>
        <p:txBody>
          <a:bodyPr wrap="square" lIns="0" tIns="0" rIns="0" bIns="0" rtlCol="0" anchor="t"/>
          <a:lstStyle/>
          <a:p>
            <a:pPr indent="0" marL="0">
              <a:buNone/>
            </a:pPr>
            <a:r>
              <a:rPr lang="en-US" sz="1200" dirty="0">
                <a:solidFill>
                  <a:schemeClr val="tx1"/>
                </a:solidFill>
              </a:rPr>
              <a:t>One picture per slide, coloured by the kind of question. Click a box to go back.</a:t>
            </a:r>
            <a:endParaRPr lang="en-US" sz="1200" dirty="0"/>
          </a:p>
        </p:txBody>
      </p:sp>
      <p:sp>
        <p:nvSpPr>
          <p:cNvPr id="26" name="Panel tile 4"/>
          <p:cNvSpPr/>
          <p:nvPr/>
        </p:nvSpPr>
        <p:spPr>
          <a:xfrm>
            <a:off x="3703320" y="3246120"/>
            <a:ext cx="2971800" cy="1298448"/>
          </a:xfrm>
          <a:prstGeom prst="roundRect">
            <a:avLst>
              <a:gd name="adj" fmla="val 7042"/>
            </a:avLst>
          </a:prstGeom>
          <a:solidFill>
            <a:schemeClr val="bg2"/>
          </a:solidFill>
          <a:ln w="12700">
            <a:solidFill>
              <a:schemeClr val="bg2"/>
            </a:solidFill>
            <a:prstDash val="solid"/>
          </a:ln>
        </p:spPr>
      </p:sp>
      <p:sp>
        <p:nvSpPr>
          <p:cNvPr id="27" name="Panel icon 4 circle"/>
          <p:cNvSpPr/>
          <p:nvPr/>
        </p:nvSpPr>
        <p:spPr>
          <a:xfrm>
            <a:off x="3886200" y="3410712"/>
            <a:ext cx="420624" cy="420624"/>
          </a:xfrm>
          <a:prstGeom prst="ellipse">
            <a:avLst/>
          </a:prstGeom>
          <a:solidFill>
            <a:schemeClr val="tx2"/>
          </a:solidFill>
          <a:ln w="12700">
            <a:solidFill>
              <a:schemeClr val="tx2"/>
            </a:solidFill>
            <a:prstDash val="solid"/>
          </a:ln>
        </p:spPr>
      </p:sp>
      <p:pic>
        <p:nvPicPr>
          <p:cNvPr id="28" name="Panel icon 4" descr="preencoded.png">    </p:cNvPr>
          <p:cNvPicPr>
            <a:picLocks noChangeAspect="1"/>
          </p:cNvPicPr>
          <p:nvPr/>
        </p:nvPicPr>
        <p:blipFill>
          <a:blip r:embed="rId4"/>
          <a:stretch>
            <a:fillRect/>
          </a:stretch>
        </p:blipFill>
        <p:spPr>
          <a:xfrm>
            <a:off x="3999768" y="3524280"/>
            <a:ext cx="193487" cy="193487"/>
          </a:xfrm>
          <a:prstGeom prst="rect">
            <a:avLst/>
          </a:prstGeom>
        </p:spPr>
      </p:pic>
      <p:sp>
        <p:nvSpPr>
          <p:cNvPr id="29" name="Panel heading 4"/>
          <p:cNvSpPr txBox="1"/>
          <p:nvPr/>
        </p:nvSpPr>
        <p:spPr>
          <a:xfrm>
            <a:off x="4416552" y="3374136"/>
            <a:ext cx="2194560" cy="274320"/>
          </a:xfrm>
          <a:prstGeom prst="rect">
            <a:avLst/>
          </a:prstGeom>
          <a:noFill/>
          <a:ln/>
        </p:spPr>
        <p:txBody>
          <a:bodyPr wrap="square" lIns="0" tIns="0" rIns="0" bIns="0" rtlCol="0" anchor="ctr"/>
          <a:lstStyle/>
          <a:p>
            <a:pPr indent="0" marL="0">
              <a:buNone/>
            </a:pPr>
            <a:r>
              <a:rPr lang="en-US" sz="1450" b="1" dirty="0">
                <a:solidFill>
                  <a:schemeClr val="tx2"/>
                </a:solidFill>
              </a:rPr>
              <a:t>Save what matters</a:t>
            </a:r>
            <a:endParaRPr lang="en-US" sz="1450" dirty="0"/>
          </a:p>
        </p:txBody>
      </p:sp>
      <p:sp>
        <p:nvSpPr>
          <p:cNvPr id="30" name="Panel status 4 pill"/>
          <p:cNvSpPr/>
          <p:nvPr/>
        </p:nvSpPr>
        <p:spPr>
          <a:xfrm>
            <a:off x="4416552" y="3675888"/>
            <a:ext cx="713232" cy="246888"/>
          </a:xfrm>
          <a:prstGeom prst="roundRect">
            <a:avLst>
              <a:gd name="adj" fmla="val 48148"/>
            </a:avLst>
          </a:prstGeom>
          <a:solidFill>
            <a:schemeClr val="accent3"/>
          </a:solidFill>
          <a:ln w="12700">
            <a:solidFill>
              <a:schemeClr val="accent3"/>
            </a:solidFill>
            <a:prstDash val="solid"/>
          </a:ln>
        </p:spPr>
      </p:sp>
      <p:sp>
        <p:nvSpPr>
          <p:cNvPr id="31" name="Panel status 4"/>
          <p:cNvSpPr txBox="1"/>
          <p:nvPr/>
        </p:nvSpPr>
        <p:spPr>
          <a:xfrm>
            <a:off x="4416552" y="3675888"/>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Built</a:t>
            </a:r>
            <a:endParaRPr lang="en-US" sz="1050" dirty="0"/>
          </a:p>
        </p:txBody>
      </p:sp>
      <p:sp>
        <p:nvSpPr>
          <p:cNvPr id="32" name="Panel text 4"/>
          <p:cNvSpPr txBox="1"/>
          <p:nvPr/>
        </p:nvSpPr>
        <p:spPr>
          <a:xfrm>
            <a:off x="3886200" y="4014216"/>
            <a:ext cx="2651760" cy="475488"/>
          </a:xfrm>
          <a:prstGeom prst="rect">
            <a:avLst/>
          </a:prstGeom>
          <a:noFill/>
          <a:ln/>
        </p:spPr>
        <p:txBody>
          <a:bodyPr wrap="square" lIns="0" tIns="0" rIns="0" bIns="0" rtlCol="0" anchor="t"/>
          <a:lstStyle/>
          <a:p>
            <a:pPr indent="0" marL="0">
              <a:buNone/>
            </a:pPr>
            <a:r>
              <a:rPr lang="en-US" sz="1200" dirty="0">
                <a:solidFill>
                  <a:schemeClr val="tx1"/>
                </a:solidFill>
              </a:rPr>
              <a:t>Star an answer and it stands out in the tree.</a:t>
            </a:r>
            <a:endParaRPr lang="en-US" sz="1200" dirty="0"/>
          </a:p>
        </p:txBody>
      </p:sp>
      <p:sp>
        <p:nvSpPr>
          <p:cNvPr id="33" name="Panel tile 5"/>
          <p:cNvSpPr/>
          <p:nvPr/>
        </p:nvSpPr>
        <p:spPr>
          <a:xfrm>
            <a:off x="548640" y="4709160"/>
            <a:ext cx="2971800" cy="1298448"/>
          </a:xfrm>
          <a:prstGeom prst="roundRect">
            <a:avLst>
              <a:gd name="adj" fmla="val 7042"/>
            </a:avLst>
          </a:prstGeom>
          <a:solidFill>
            <a:schemeClr val="bg2"/>
          </a:solidFill>
          <a:ln w="12700">
            <a:solidFill>
              <a:schemeClr val="bg2"/>
            </a:solidFill>
            <a:prstDash val="solid"/>
          </a:ln>
        </p:spPr>
      </p:sp>
      <p:sp>
        <p:nvSpPr>
          <p:cNvPr id="34" name="Panel icon 5 circle"/>
          <p:cNvSpPr/>
          <p:nvPr/>
        </p:nvSpPr>
        <p:spPr>
          <a:xfrm>
            <a:off x="731520" y="4873752"/>
            <a:ext cx="420624" cy="420624"/>
          </a:xfrm>
          <a:prstGeom prst="ellipse">
            <a:avLst/>
          </a:prstGeom>
          <a:solidFill>
            <a:schemeClr val="tx2"/>
          </a:solidFill>
          <a:ln w="12700">
            <a:solidFill>
              <a:schemeClr val="tx2"/>
            </a:solidFill>
            <a:prstDash val="solid"/>
          </a:ln>
        </p:spPr>
      </p:sp>
      <p:pic>
        <p:nvPicPr>
          <p:cNvPr id="35" name="Panel icon 5" descr="preencoded.png">    </p:cNvPr>
          <p:cNvPicPr>
            <a:picLocks noChangeAspect="1"/>
          </p:cNvPicPr>
          <p:nvPr/>
        </p:nvPicPr>
        <p:blipFill>
          <a:blip r:embed="rId5"/>
          <a:stretch>
            <a:fillRect/>
          </a:stretch>
        </p:blipFill>
        <p:spPr>
          <a:xfrm>
            <a:off x="845088" y="4987320"/>
            <a:ext cx="193487" cy="193487"/>
          </a:xfrm>
          <a:prstGeom prst="rect">
            <a:avLst/>
          </a:prstGeom>
        </p:spPr>
      </p:pic>
      <p:sp>
        <p:nvSpPr>
          <p:cNvPr id="36" name="Panel heading 5"/>
          <p:cNvSpPr txBox="1"/>
          <p:nvPr/>
        </p:nvSpPr>
        <p:spPr>
          <a:xfrm>
            <a:off x="1261872" y="4837176"/>
            <a:ext cx="2194560" cy="274320"/>
          </a:xfrm>
          <a:prstGeom prst="rect">
            <a:avLst/>
          </a:prstGeom>
          <a:noFill/>
          <a:ln/>
        </p:spPr>
        <p:txBody>
          <a:bodyPr wrap="square" lIns="0" tIns="0" rIns="0" bIns="0" rtlCol="0" anchor="ctr"/>
          <a:lstStyle/>
          <a:p>
            <a:pPr indent="0" marL="0">
              <a:buNone/>
            </a:pPr>
            <a:r>
              <a:rPr lang="en-US" sz="1450" b="1" dirty="0">
                <a:solidFill>
                  <a:schemeClr val="tx2"/>
                </a:solidFill>
              </a:rPr>
              <a:t>“Still confused” flags</a:t>
            </a:r>
            <a:endParaRPr lang="en-US" sz="1450" dirty="0"/>
          </a:p>
        </p:txBody>
      </p:sp>
      <p:sp>
        <p:nvSpPr>
          <p:cNvPr id="37" name="Panel status 5 pill"/>
          <p:cNvSpPr/>
          <p:nvPr/>
        </p:nvSpPr>
        <p:spPr>
          <a:xfrm>
            <a:off x="1261872" y="5138928"/>
            <a:ext cx="960120" cy="246888"/>
          </a:xfrm>
          <a:prstGeom prst="roundRect">
            <a:avLst>
              <a:gd name="adj" fmla="val 48148"/>
            </a:avLst>
          </a:prstGeom>
          <a:solidFill>
            <a:schemeClr val="accent1"/>
          </a:solidFill>
          <a:ln w="12700">
            <a:solidFill>
              <a:schemeClr val="accent1"/>
            </a:solidFill>
            <a:prstDash val="solid"/>
          </a:ln>
        </p:spPr>
      </p:sp>
      <p:sp>
        <p:nvSpPr>
          <p:cNvPr id="38" name="Panel status 5"/>
          <p:cNvSpPr txBox="1"/>
          <p:nvPr/>
        </p:nvSpPr>
        <p:spPr>
          <a:xfrm>
            <a:off x="1261872" y="5138928"/>
            <a:ext cx="960120" cy="246888"/>
          </a:xfrm>
          <a:prstGeom prst="rect">
            <a:avLst/>
          </a:prstGeom>
          <a:noFill/>
          <a:ln/>
        </p:spPr>
        <p:txBody>
          <a:bodyPr wrap="square" lIns="0" tIns="0" rIns="0" bIns="0" rtlCol="0" anchor="ctr"/>
          <a:lstStyle/>
          <a:p>
            <a:pPr algn="ctr" indent="0" marL="0">
              <a:buNone/>
            </a:pPr>
            <a:r>
              <a:rPr lang="en-US" sz="1050" b="1" dirty="0">
                <a:solidFill>
                  <a:schemeClr val="bg1"/>
                </a:solidFill>
              </a:rPr>
              <a:t>Partly built</a:t>
            </a:r>
            <a:endParaRPr lang="en-US" sz="1050" dirty="0"/>
          </a:p>
        </p:txBody>
      </p:sp>
      <p:sp>
        <p:nvSpPr>
          <p:cNvPr id="39" name="Panel text 5"/>
          <p:cNvSpPr txBox="1"/>
          <p:nvPr/>
        </p:nvSpPr>
        <p:spPr>
          <a:xfrm>
            <a:off x="731520" y="5477256"/>
            <a:ext cx="2651760" cy="475488"/>
          </a:xfrm>
          <a:prstGeom prst="rect">
            <a:avLst/>
          </a:prstGeom>
          <a:noFill/>
          <a:ln/>
        </p:spPr>
        <p:txBody>
          <a:bodyPr wrap="square" lIns="0" tIns="0" rIns="0" bIns="0" rtlCol="0" anchor="t"/>
          <a:lstStyle/>
          <a:p>
            <a:pPr indent="0" marL="0">
              <a:buNone/>
            </a:pPr>
            <a:r>
              <a:rPr lang="en-US" sz="1200" dirty="0">
                <a:solidFill>
                  <a:schemeClr val="tx1"/>
                </a:solidFill>
              </a:rPr>
              <a:t>Questions that didn’t make sense show in red. A review list is next.</a:t>
            </a:r>
            <a:endParaRPr lang="en-US" sz="1200" dirty="0"/>
          </a:p>
        </p:txBody>
      </p:sp>
      <p:sp>
        <p:nvSpPr>
          <p:cNvPr id="40" name="Panel tile 6"/>
          <p:cNvSpPr/>
          <p:nvPr/>
        </p:nvSpPr>
        <p:spPr>
          <a:xfrm>
            <a:off x="3703320" y="4709160"/>
            <a:ext cx="2971800" cy="1298448"/>
          </a:xfrm>
          <a:prstGeom prst="roundRect">
            <a:avLst>
              <a:gd name="adj" fmla="val 7042"/>
            </a:avLst>
          </a:prstGeom>
          <a:solidFill>
            <a:schemeClr val="bg2"/>
          </a:solidFill>
          <a:ln w="12700">
            <a:solidFill>
              <a:schemeClr val="bg2"/>
            </a:solidFill>
            <a:prstDash val="solid"/>
          </a:ln>
        </p:spPr>
      </p:sp>
      <p:sp>
        <p:nvSpPr>
          <p:cNvPr id="41" name="Panel icon 6 circle"/>
          <p:cNvSpPr/>
          <p:nvPr/>
        </p:nvSpPr>
        <p:spPr>
          <a:xfrm>
            <a:off x="3886200" y="4873752"/>
            <a:ext cx="420624" cy="420624"/>
          </a:xfrm>
          <a:prstGeom prst="ellipse">
            <a:avLst/>
          </a:prstGeom>
          <a:solidFill>
            <a:schemeClr val="tx2"/>
          </a:solidFill>
          <a:ln w="12700">
            <a:solidFill>
              <a:schemeClr val="tx2"/>
            </a:solidFill>
            <a:prstDash val="solid"/>
          </a:ln>
        </p:spPr>
      </p:sp>
      <p:pic>
        <p:nvPicPr>
          <p:cNvPr id="42" name="Panel icon 6" descr="preencoded.png">    </p:cNvPr>
          <p:cNvPicPr>
            <a:picLocks noChangeAspect="1"/>
          </p:cNvPicPr>
          <p:nvPr/>
        </p:nvPicPr>
        <p:blipFill>
          <a:blip r:embed="rId6"/>
          <a:stretch>
            <a:fillRect/>
          </a:stretch>
        </p:blipFill>
        <p:spPr>
          <a:xfrm>
            <a:off x="3999768" y="4987320"/>
            <a:ext cx="193487" cy="193487"/>
          </a:xfrm>
          <a:prstGeom prst="rect">
            <a:avLst/>
          </a:prstGeom>
        </p:spPr>
      </p:pic>
      <p:sp>
        <p:nvSpPr>
          <p:cNvPr id="43" name="Panel heading 6"/>
          <p:cNvSpPr txBox="1"/>
          <p:nvPr/>
        </p:nvSpPr>
        <p:spPr>
          <a:xfrm>
            <a:off x="4416552" y="4837176"/>
            <a:ext cx="2194560" cy="274320"/>
          </a:xfrm>
          <a:prstGeom prst="rect">
            <a:avLst/>
          </a:prstGeom>
          <a:noFill/>
          <a:ln/>
        </p:spPr>
        <p:txBody>
          <a:bodyPr wrap="square" lIns="0" tIns="0" rIns="0" bIns="0" rtlCol="0" anchor="ctr"/>
          <a:lstStyle/>
          <a:p>
            <a:pPr indent="0" marL="0">
              <a:buNone/>
            </a:pPr>
            <a:r>
              <a:rPr lang="en-US" sz="1450" b="1" dirty="0">
                <a:solidFill>
                  <a:schemeClr val="tx2"/>
                </a:solidFill>
              </a:rPr>
              <a:t>Auto study notes</a:t>
            </a:r>
            <a:endParaRPr lang="en-US" sz="1450" dirty="0"/>
          </a:p>
        </p:txBody>
      </p:sp>
      <p:sp>
        <p:nvSpPr>
          <p:cNvPr id="44" name="Panel status 6 pill"/>
          <p:cNvSpPr/>
          <p:nvPr/>
        </p:nvSpPr>
        <p:spPr>
          <a:xfrm>
            <a:off x="4416552" y="5138928"/>
            <a:ext cx="713232" cy="246888"/>
          </a:xfrm>
          <a:prstGeom prst="roundRect">
            <a:avLst>
              <a:gd name="adj" fmla="val 48148"/>
            </a:avLst>
          </a:prstGeom>
          <a:solidFill>
            <a:schemeClr val="accent5"/>
          </a:solidFill>
          <a:ln w="12700">
            <a:solidFill>
              <a:schemeClr val="accent5"/>
            </a:solidFill>
            <a:prstDash val="solid"/>
          </a:ln>
        </p:spPr>
      </p:sp>
      <p:sp>
        <p:nvSpPr>
          <p:cNvPr id="45" name="Panel status 6"/>
          <p:cNvSpPr txBox="1"/>
          <p:nvPr/>
        </p:nvSpPr>
        <p:spPr>
          <a:xfrm>
            <a:off x="4416552" y="5138928"/>
            <a:ext cx="713232" cy="246888"/>
          </a:xfrm>
          <a:prstGeom prst="rect">
            <a:avLst/>
          </a:prstGeom>
          <a:noFill/>
          <a:ln/>
        </p:spPr>
        <p:txBody>
          <a:bodyPr wrap="square" lIns="0" tIns="0" rIns="0" bIns="0" rtlCol="0" anchor="ctr"/>
          <a:lstStyle/>
          <a:p>
            <a:pPr algn="ctr" indent="0" marL="0">
              <a:buNone/>
            </a:pPr>
            <a:r>
              <a:rPr lang="en-US" sz="1050" b="1" dirty="0">
                <a:solidFill>
                  <a:schemeClr val="bg1"/>
                </a:solidFill>
              </a:rPr>
              <a:t>Planned</a:t>
            </a:r>
            <a:endParaRPr lang="en-US" sz="1050" dirty="0"/>
          </a:p>
        </p:txBody>
      </p:sp>
      <p:sp>
        <p:nvSpPr>
          <p:cNvPr id="46" name="Panel text 6"/>
          <p:cNvSpPr txBox="1"/>
          <p:nvPr/>
        </p:nvSpPr>
        <p:spPr>
          <a:xfrm>
            <a:off x="3886200" y="5477256"/>
            <a:ext cx="2651760" cy="475488"/>
          </a:xfrm>
          <a:prstGeom prst="rect">
            <a:avLst/>
          </a:prstGeom>
          <a:noFill/>
          <a:ln/>
        </p:spPr>
        <p:txBody>
          <a:bodyPr wrap="square" lIns="0" tIns="0" rIns="0" bIns="0" rtlCol="0" anchor="t"/>
          <a:lstStyle/>
          <a:p>
            <a:pPr indent="0" marL="0">
              <a:buNone/>
            </a:pPr>
            <a:r>
              <a:rPr lang="en-US" sz="1200" dirty="0">
                <a:solidFill>
                  <a:schemeClr val="tx1"/>
                </a:solidFill>
              </a:rPr>
              <a:t>A short summary for each slide or lecture.</a:t>
            </a:r>
            <a:endParaRPr lang="en-US" sz="1200" dirty="0"/>
          </a:p>
        </p:txBody>
      </p:sp>
      <p:sp>
        <p:nvSpPr>
          <p:cNvPr id="47" name="History tree screenshot frame"/>
          <p:cNvSpPr/>
          <p:nvPr/>
        </p:nvSpPr>
        <p:spPr>
          <a:xfrm>
            <a:off x="7306056" y="1728216"/>
            <a:ext cx="3767328" cy="4398264"/>
          </a:xfrm>
          <a:prstGeom prst="roundRect">
            <a:avLst>
              <a:gd name="adj" fmla="val 1942"/>
            </a:avLst>
          </a:prstGeom>
          <a:solidFill>
            <a:schemeClr val="bg1"/>
          </a:solidFill>
          <a:ln w="9525">
            <a:solidFill>
              <a:srgbClr val="D9D4CA"/>
            </a:solidFill>
            <a:prstDash val="solid"/>
          </a:ln>
          <a:effectLst>
            <a:outerShdw sx="100000" sy="100000" kx="0" ky="0" algn="bl" rotWithShape="0" blurRad="177800" dist="50800" dir="5400000">
              <a:srgbClr val="193B5A">
                <a:alpha val="18000"/>
              </a:srgbClr>
            </a:outerShdw>
          </a:effectLst>
        </p:spPr>
      </p:sp>
      <p:pic>
        <p:nvPicPr>
          <p:cNvPr id="48" name="History tree screenshot" descr="img/tree2.png">    </p:cNvPr>
          <p:cNvPicPr>
            <a:picLocks noChangeAspect="1"/>
          </p:cNvPicPr>
          <p:nvPr/>
        </p:nvPicPr>
        <p:blipFill>
          <a:blip r:embed="rId7"/>
          <a:stretch>
            <a:fillRect/>
          </a:stretch>
        </p:blipFill>
        <p:spPr>
          <a:xfrm>
            <a:off x="7360920" y="1783080"/>
            <a:ext cx="3657600" cy="4288536"/>
          </a:xfrm>
          <a:prstGeom prst="rect">
            <a:avLst/>
          </a:prstGeom>
        </p:spPr>
      </p:pic>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THE DEMO</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What we built in a short hackathon</a:t>
            </a:r>
            <a:endParaRPr lang="en-US" sz="3200" dirty="0"/>
          </a:p>
        </p:txBody>
      </p:sp>
      <p:sp>
        <p:nvSpPr>
          <p:cNvPr id="5" name="Demo screenshot frame"/>
          <p:cNvSpPr/>
          <p:nvPr/>
        </p:nvSpPr>
        <p:spPr>
          <a:xfrm>
            <a:off x="493776" y="1728216"/>
            <a:ext cx="6830568" cy="4123944"/>
          </a:xfrm>
          <a:prstGeom prst="roundRect">
            <a:avLst>
              <a:gd name="adj" fmla="val 1774"/>
            </a:avLst>
          </a:prstGeom>
          <a:solidFill>
            <a:schemeClr val="bg1"/>
          </a:solidFill>
          <a:ln w="9525">
            <a:solidFill>
              <a:srgbClr val="D9D4CA"/>
            </a:solidFill>
            <a:prstDash val="solid"/>
          </a:ln>
          <a:effectLst>
            <a:outerShdw sx="100000" sy="100000" kx="0" ky="0" algn="bl" rotWithShape="0" blurRad="177800" dist="50800" dir="5400000">
              <a:srgbClr val="193B5A">
                <a:alpha val="18000"/>
              </a:srgbClr>
            </a:outerShdw>
          </a:effectLst>
        </p:spPr>
      </p:sp>
      <p:pic>
        <p:nvPicPr>
          <p:cNvPr id="6" name="Demo screenshot" descr="img/hero2.png">    </p:cNvPr>
          <p:cNvPicPr>
            <a:picLocks noChangeAspect="1"/>
          </p:cNvPicPr>
          <p:nvPr/>
        </p:nvPicPr>
        <p:blipFill>
          <a:blip r:embed="rId1"/>
          <a:stretch>
            <a:fillRect/>
          </a:stretch>
        </p:blipFill>
        <p:spPr>
          <a:xfrm>
            <a:off x="548640" y="1783080"/>
            <a:ext cx="6720840" cy="4014216"/>
          </a:xfrm>
          <a:prstGeom prst="rect">
            <a:avLst/>
          </a:prstGeom>
        </p:spPr>
      </p:pic>
      <p:sp>
        <p:nvSpPr>
          <p:cNvPr id="7" name="Built check 1 circle"/>
          <p:cNvSpPr/>
          <p:nvPr/>
        </p:nvSpPr>
        <p:spPr>
          <a:xfrm>
            <a:off x="7635240" y="1847088"/>
            <a:ext cx="329184" cy="329184"/>
          </a:xfrm>
          <a:prstGeom prst="ellipse">
            <a:avLst/>
          </a:prstGeom>
          <a:solidFill>
            <a:schemeClr val="accent3"/>
          </a:solidFill>
          <a:ln w="12700">
            <a:solidFill>
              <a:schemeClr val="accent3"/>
            </a:solidFill>
            <a:prstDash val="solid"/>
          </a:ln>
        </p:spPr>
      </p:sp>
      <p:pic>
        <p:nvPicPr>
          <p:cNvPr id="8" name="Built check 1" descr="preencoded.png">    </p:cNvPr>
          <p:cNvPicPr>
            <a:picLocks noChangeAspect="1"/>
          </p:cNvPicPr>
          <p:nvPr/>
        </p:nvPicPr>
        <p:blipFill>
          <a:blip r:embed="rId2"/>
          <a:stretch>
            <a:fillRect/>
          </a:stretch>
        </p:blipFill>
        <p:spPr>
          <a:xfrm>
            <a:off x="7724120" y="1935968"/>
            <a:ext cx="151425" cy="151425"/>
          </a:xfrm>
          <a:prstGeom prst="rect">
            <a:avLst/>
          </a:prstGeom>
        </p:spPr>
      </p:pic>
      <p:sp>
        <p:nvSpPr>
          <p:cNvPr id="9" name="Built item 1"/>
          <p:cNvSpPr txBox="1"/>
          <p:nvPr/>
        </p:nvSpPr>
        <p:spPr>
          <a:xfrm>
            <a:off x="8092440" y="1810512"/>
            <a:ext cx="3566160" cy="502920"/>
          </a:xfrm>
          <a:prstGeom prst="rect">
            <a:avLst/>
          </a:prstGeom>
          <a:noFill/>
          <a:ln/>
        </p:spPr>
        <p:txBody>
          <a:bodyPr wrap="square" lIns="0" tIns="0" rIns="0" bIns="0" rtlCol="0" anchor="ctr"/>
          <a:lstStyle/>
          <a:p>
            <a:pPr indent="0" marL="0">
              <a:buNone/>
            </a:pPr>
            <a:r>
              <a:rPr lang="en-US" sz="1400" dirty="0">
                <a:solidFill>
                  <a:schemeClr val="tx1"/>
                </a:solidFill>
              </a:rPr>
              <a:t>Upload a folder; files sort into Learn and Course Info</a:t>
            </a:r>
            <a:endParaRPr lang="en-US" sz="1400" dirty="0"/>
          </a:p>
        </p:txBody>
      </p:sp>
      <p:sp>
        <p:nvSpPr>
          <p:cNvPr id="10" name="Built check 2 circle"/>
          <p:cNvSpPr/>
          <p:nvPr/>
        </p:nvSpPr>
        <p:spPr>
          <a:xfrm>
            <a:off x="7635240" y="2423160"/>
            <a:ext cx="329184" cy="329184"/>
          </a:xfrm>
          <a:prstGeom prst="ellipse">
            <a:avLst/>
          </a:prstGeom>
          <a:solidFill>
            <a:schemeClr val="accent3"/>
          </a:solidFill>
          <a:ln w="12700">
            <a:solidFill>
              <a:schemeClr val="accent3"/>
            </a:solidFill>
            <a:prstDash val="solid"/>
          </a:ln>
        </p:spPr>
      </p:sp>
      <p:pic>
        <p:nvPicPr>
          <p:cNvPr id="11" name="Built check 2" descr="preencoded.png">    </p:cNvPr>
          <p:cNvPicPr>
            <a:picLocks noChangeAspect="1"/>
          </p:cNvPicPr>
          <p:nvPr/>
        </p:nvPicPr>
        <p:blipFill>
          <a:blip r:embed="rId3"/>
          <a:stretch>
            <a:fillRect/>
          </a:stretch>
        </p:blipFill>
        <p:spPr>
          <a:xfrm>
            <a:off x="7724120" y="2512040"/>
            <a:ext cx="151425" cy="151425"/>
          </a:xfrm>
          <a:prstGeom prst="rect">
            <a:avLst/>
          </a:prstGeom>
        </p:spPr>
      </p:pic>
      <p:sp>
        <p:nvSpPr>
          <p:cNvPr id="12" name="Built item 2"/>
          <p:cNvSpPr txBox="1"/>
          <p:nvPr/>
        </p:nvSpPr>
        <p:spPr>
          <a:xfrm>
            <a:off x="8092440" y="2386584"/>
            <a:ext cx="3566160" cy="502920"/>
          </a:xfrm>
          <a:prstGeom prst="rect">
            <a:avLst/>
          </a:prstGeom>
          <a:noFill/>
          <a:ln/>
        </p:spPr>
        <p:txBody>
          <a:bodyPr wrap="square" lIns="0" tIns="0" rIns="0" bIns="0" rtlCol="0" anchor="ctr"/>
          <a:lstStyle/>
          <a:p>
            <a:pPr indent="0" marL="0">
              <a:buNone/>
            </a:pPr>
            <a:r>
              <a:rPr lang="en-US" sz="1400" dirty="0">
                <a:solidFill>
                  <a:schemeClr val="tx1"/>
                </a:solidFill>
              </a:rPr>
              <a:t>First lecture found and opened, tested on 5 real courses</a:t>
            </a:r>
            <a:endParaRPr lang="en-US" sz="1400" dirty="0"/>
          </a:p>
        </p:txBody>
      </p:sp>
      <p:sp>
        <p:nvSpPr>
          <p:cNvPr id="13" name="Built check 3 circle"/>
          <p:cNvSpPr/>
          <p:nvPr/>
        </p:nvSpPr>
        <p:spPr>
          <a:xfrm>
            <a:off x="7635240" y="2999232"/>
            <a:ext cx="329184" cy="329184"/>
          </a:xfrm>
          <a:prstGeom prst="ellipse">
            <a:avLst/>
          </a:prstGeom>
          <a:solidFill>
            <a:schemeClr val="accent3"/>
          </a:solidFill>
          <a:ln w="12700">
            <a:solidFill>
              <a:schemeClr val="accent3"/>
            </a:solidFill>
            <a:prstDash val="solid"/>
          </a:ln>
        </p:spPr>
      </p:sp>
      <p:pic>
        <p:nvPicPr>
          <p:cNvPr id="14" name="Built check 3" descr="preencoded.png">    </p:cNvPr>
          <p:cNvPicPr>
            <a:picLocks noChangeAspect="1"/>
          </p:cNvPicPr>
          <p:nvPr/>
        </p:nvPicPr>
        <p:blipFill>
          <a:blip r:embed="rId4"/>
          <a:stretch>
            <a:fillRect/>
          </a:stretch>
        </p:blipFill>
        <p:spPr>
          <a:xfrm>
            <a:off x="7724120" y="3088112"/>
            <a:ext cx="151425" cy="151425"/>
          </a:xfrm>
          <a:prstGeom prst="rect">
            <a:avLst/>
          </a:prstGeom>
        </p:spPr>
      </p:pic>
      <p:sp>
        <p:nvSpPr>
          <p:cNvPr id="15" name="Built item 3"/>
          <p:cNvSpPr txBox="1"/>
          <p:nvPr/>
        </p:nvSpPr>
        <p:spPr>
          <a:xfrm>
            <a:off x="8092440" y="2962656"/>
            <a:ext cx="3566160" cy="502920"/>
          </a:xfrm>
          <a:prstGeom prst="rect">
            <a:avLst/>
          </a:prstGeom>
          <a:noFill/>
          <a:ln/>
        </p:spPr>
        <p:txBody>
          <a:bodyPr wrap="square" lIns="0" tIns="0" rIns="0" bIns="0" rtlCol="0" anchor="ctr"/>
          <a:lstStyle/>
          <a:p>
            <a:pPr indent="0" marL="0">
              <a:buNone/>
            </a:pPr>
            <a:r>
              <a:rPr lang="en-US" sz="1400" dirty="0">
                <a:solidFill>
                  <a:schemeClr val="tx1"/>
                </a:solidFill>
              </a:rPr>
              <a:t>PDF, PowerPoint and Excel files open inside Smazy</a:t>
            </a:r>
            <a:endParaRPr lang="en-US" sz="1400" dirty="0"/>
          </a:p>
        </p:txBody>
      </p:sp>
      <p:sp>
        <p:nvSpPr>
          <p:cNvPr id="16" name="Built check 4 circle"/>
          <p:cNvSpPr/>
          <p:nvPr/>
        </p:nvSpPr>
        <p:spPr>
          <a:xfrm>
            <a:off x="7635240" y="3575304"/>
            <a:ext cx="329184" cy="329184"/>
          </a:xfrm>
          <a:prstGeom prst="ellipse">
            <a:avLst/>
          </a:prstGeom>
          <a:solidFill>
            <a:schemeClr val="accent3"/>
          </a:solidFill>
          <a:ln w="12700">
            <a:solidFill>
              <a:schemeClr val="accent3"/>
            </a:solidFill>
            <a:prstDash val="solid"/>
          </a:ln>
        </p:spPr>
      </p:sp>
      <p:pic>
        <p:nvPicPr>
          <p:cNvPr id="17" name="Built check 4" descr="preencoded.png">    </p:cNvPr>
          <p:cNvPicPr>
            <a:picLocks noChangeAspect="1"/>
          </p:cNvPicPr>
          <p:nvPr/>
        </p:nvPicPr>
        <p:blipFill>
          <a:blip r:embed="rId5"/>
          <a:stretch>
            <a:fillRect/>
          </a:stretch>
        </p:blipFill>
        <p:spPr>
          <a:xfrm>
            <a:off x="7724120" y="3664184"/>
            <a:ext cx="151425" cy="151425"/>
          </a:xfrm>
          <a:prstGeom prst="rect">
            <a:avLst/>
          </a:prstGeom>
        </p:spPr>
      </p:pic>
      <p:sp>
        <p:nvSpPr>
          <p:cNvPr id="18" name="Built item 4"/>
          <p:cNvSpPr txBox="1"/>
          <p:nvPr/>
        </p:nvSpPr>
        <p:spPr>
          <a:xfrm>
            <a:off x="8092440" y="3538728"/>
            <a:ext cx="3566160" cy="502920"/>
          </a:xfrm>
          <a:prstGeom prst="rect">
            <a:avLst/>
          </a:prstGeom>
          <a:noFill/>
          <a:ln/>
        </p:spPr>
        <p:txBody>
          <a:bodyPr wrap="square" lIns="0" tIns="0" rIns="0" bIns="0" rtlCol="0" anchor="ctr"/>
          <a:lstStyle/>
          <a:p>
            <a:pPr indent="0" marL="0">
              <a:buNone/>
            </a:pPr>
            <a:r>
              <a:rPr lang="en-US" sz="1400" dirty="0">
                <a:solidFill>
                  <a:schemeClr val="tx1"/>
                </a:solidFill>
              </a:rPr>
              <a:t>A Study Partner you can name and customize</a:t>
            </a:r>
            <a:endParaRPr lang="en-US" sz="1400" dirty="0"/>
          </a:p>
        </p:txBody>
      </p:sp>
      <p:sp>
        <p:nvSpPr>
          <p:cNvPr id="19" name="Built check 5 circle"/>
          <p:cNvSpPr/>
          <p:nvPr/>
        </p:nvSpPr>
        <p:spPr>
          <a:xfrm>
            <a:off x="7635240" y="4151376"/>
            <a:ext cx="329184" cy="329184"/>
          </a:xfrm>
          <a:prstGeom prst="ellipse">
            <a:avLst/>
          </a:prstGeom>
          <a:solidFill>
            <a:schemeClr val="accent3"/>
          </a:solidFill>
          <a:ln w="12700">
            <a:solidFill>
              <a:schemeClr val="accent3"/>
            </a:solidFill>
            <a:prstDash val="solid"/>
          </a:ln>
        </p:spPr>
      </p:sp>
      <p:pic>
        <p:nvPicPr>
          <p:cNvPr id="20" name="Built check 5" descr="preencoded.png">    </p:cNvPr>
          <p:cNvPicPr>
            <a:picLocks noChangeAspect="1"/>
          </p:cNvPicPr>
          <p:nvPr/>
        </p:nvPicPr>
        <p:blipFill>
          <a:blip r:embed="rId6"/>
          <a:stretch>
            <a:fillRect/>
          </a:stretch>
        </p:blipFill>
        <p:spPr>
          <a:xfrm>
            <a:off x="7724120" y="4240256"/>
            <a:ext cx="151425" cy="151425"/>
          </a:xfrm>
          <a:prstGeom prst="rect">
            <a:avLst/>
          </a:prstGeom>
        </p:spPr>
      </p:pic>
      <p:sp>
        <p:nvSpPr>
          <p:cNvPr id="21" name="Built item 5"/>
          <p:cNvSpPr txBox="1"/>
          <p:nvPr/>
        </p:nvSpPr>
        <p:spPr>
          <a:xfrm>
            <a:off x="8092440" y="4114800"/>
            <a:ext cx="3566160" cy="502920"/>
          </a:xfrm>
          <a:prstGeom prst="rect">
            <a:avLst/>
          </a:prstGeom>
          <a:noFill/>
          <a:ln/>
        </p:spPr>
        <p:txBody>
          <a:bodyPr wrap="square" lIns="0" tIns="0" rIns="0" bIns="0" rtlCol="0" anchor="ctr"/>
          <a:lstStyle/>
          <a:p>
            <a:pPr indent="0" marL="0">
              <a:buNone/>
            </a:pPr>
            <a:r>
              <a:rPr lang="en-US" sz="1400" dirty="0">
                <a:solidFill>
                  <a:schemeClr val="tx1"/>
                </a:solidFill>
              </a:rPr>
              <a:t>Quick or Deep answers, voice, and a history tree</a:t>
            </a:r>
            <a:endParaRPr lang="en-US" sz="1400" dirty="0"/>
          </a:p>
        </p:txBody>
      </p:sp>
      <p:sp>
        <p:nvSpPr>
          <p:cNvPr id="22" name="Built check 6 circle"/>
          <p:cNvSpPr/>
          <p:nvPr/>
        </p:nvSpPr>
        <p:spPr>
          <a:xfrm>
            <a:off x="7635240" y="4727448"/>
            <a:ext cx="329184" cy="329184"/>
          </a:xfrm>
          <a:prstGeom prst="ellipse">
            <a:avLst/>
          </a:prstGeom>
          <a:solidFill>
            <a:schemeClr val="accent3"/>
          </a:solidFill>
          <a:ln w="12700">
            <a:solidFill>
              <a:schemeClr val="accent3"/>
            </a:solidFill>
            <a:prstDash val="solid"/>
          </a:ln>
        </p:spPr>
      </p:sp>
      <p:pic>
        <p:nvPicPr>
          <p:cNvPr id="23" name="Built check 6" descr="preencoded.png">    </p:cNvPr>
          <p:cNvPicPr>
            <a:picLocks noChangeAspect="1"/>
          </p:cNvPicPr>
          <p:nvPr/>
        </p:nvPicPr>
        <p:blipFill>
          <a:blip r:embed="rId7"/>
          <a:stretch>
            <a:fillRect/>
          </a:stretch>
        </p:blipFill>
        <p:spPr>
          <a:xfrm>
            <a:off x="7724120" y="4816328"/>
            <a:ext cx="151425" cy="151425"/>
          </a:xfrm>
          <a:prstGeom prst="rect">
            <a:avLst/>
          </a:prstGeom>
        </p:spPr>
      </p:pic>
      <p:sp>
        <p:nvSpPr>
          <p:cNvPr id="24" name="Built item 6"/>
          <p:cNvSpPr txBox="1"/>
          <p:nvPr/>
        </p:nvSpPr>
        <p:spPr>
          <a:xfrm>
            <a:off x="8092440" y="4690872"/>
            <a:ext cx="3566160" cy="502920"/>
          </a:xfrm>
          <a:prstGeom prst="rect">
            <a:avLst/>
          </a:prstGeom>
          <a:noFill/>
          <a:ln/>
        </p:spPr>
        <p:txBody>
          <a:bodyPr wrap="square" lIns="0" tIns="0" rIns="0" bIns="0" rtlCol="0" anchor="ctr"/>
          <a:lstStyle/>
          <a:p>
            <a:pPr indent="0" marL="0">
              <a:buNone/>
            </a:pPr>
            <a:r>
              <a:rPr lang="en-US" sz="1400" dirty="0">
                <a:solidFill>
                  <a:schemeClr val="tx1"/>
                </a:solidFill>
              </a:rPr>
              <a:t>Markup like Preview, with a PDF download of your notes</a:t>
            </a:r>
            <a:endParaRPr lang="en-US" sz="1400" dirty="0"/>
          </a:p>
        </p:txBody>
      </p:sp>
      <p:sp>
        <p:nvSpPr>
          <p:cNvPr id="25" name="Built check 7 circle"/>
          <p:cNvSpPr/>
          <p:nvPr/>
        </p:nvSpPr>
        <p:spPr>
          <a:xfrm>
            <a:off x="7635240" y="5303520"/>
            <a:ext cx="329184" cy="329184"/>
          </a:xfrm>
          <a:prstGeom prst="ellipse">
            <a:avLst/>
          </a:prstGeom>
          <a:solidFill>
            <a:schemeClr val="accent3"/>
          </a:solidFill>
          <a:ln w="12700">
            <a:solidFill>
              <a:schemeClr val="accent3"/>
            </a:solidFill>
            <a:prstDash val="solid"/>
          </a:ln>
        </p:spPr>
      </p:sp>
      <p:pic>
        <p:nvPicPr>
          <p:cNvPr id="26" name="Built check 7" descr="preencoded.png">    </p:cNvPr>
          <p:cNvPicPr>
            <a:picLocks noChangeAspect="1"/>
          </p:cNvPicPr>
          <p:nvPr/>
        </p:nvPicPr>
        <p:blipFill>
          <a:blip r:embed="rId8"/>
          <a:stretch>
            <a:fillRect/>
          </a:stretch>
        </p:blipFill>
        <p:spPr>
          <a:xfrm>
            <a:off x="7724120" y="5392400"/>
            <a:ext cx="151425" cy="151425"/>
          </a:xfrm>
          <a:prstGeom prst="rect">
            <a:avLst/>
          </a:prstGeom>
        </p:spPr>
      </p:pic>
      <p:sp>
        <p:nvSpPr>
          <p:cNvPr id="27" name="Built item 7"/>
          <p:cNvSpPr txBox="1"/>
          <p:nvPr/>
        </p:nvSpPr>
        <p:spPr>
          <a:xfrm>
            <a:off x="8092440" y="5266944"/>
            <a:ext cx="3566160" cy="502920"/>
          </a:xfrm>
          <a:prstGeom prst="rect">
            <a:avLst/>
          </a:prstGeom>
          <a:noFill/>
          <a:ln/>
        </p:spPr>
        <p:txBody>
          <a:bodyPr wrap="square" lIns="0" tIns="0" rIns="0" bIns="0" rtlCol="0" anchor="ctr"/>
          <a:lstStyle/>
          <a:p>
            <a:pPr indent="0" marL="0">
              <a:buNone/>
            </a:pPr>
            <a:r>
              <a:rPr lang="en-US" sz="1400" dirty="0">
                <a:solidFill>
                  <a:schemeClr val="tx1"/>
                </a:solidFill>
              </a:rPr>
              <a:t>Linked slides, a built-in web browser, and shortcuts</a:t>
            </a:r>
            <a:endParaRPr lang="en-US" sz="1400" dirty="0"/>
          </a:p>
        </p:txBody>
      </p:sp>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02  TECHNICAL IMPLEMENTATION</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Built spec-first in Kiro</a:t>
            </a:r>
            <a:endParaRPr lang="en-US" sz="3200" dirty="0"/>
          </a:p>
        </p:txBody>
      </p:sp>
      <p:sp>
        <p:nvSpPr>
          <p:cNvPr id="5" name="Spec card 1"/>
          <p:cNvSpPr/>
          <p:nvPr/>
        </p:nvSpPr>
        <p:spPr>
          <a:xfrm>
            <a:off x="548640" y="1783080"/>
            <a:ext cx="3520440" cy="3017520"/>
          </a:xfrm>
          <a:prstGeom prst="roundRect">
            <a:avLst>
              <a:gd name="adj" fmla="val 3636"/>
            </a:avLst>
          </a:prstGeom>
          <a:solidFill>
            <a:schemeClr val="bg2"/>
          </a:solidFill>
          <a:ln w="12700">
            <a:solidFill>
              <a:schemeClr val="bg2"/>
            </a:solidFill>
            <a:prstDash val="solid"/>
          </a:ln>
        </p:spPr>
      </p:sp>
      <p:sp>
        <p:nvSpPr>
          <p:cNvPr id="6" name="Spec icon 1 circle"/>
          <p:cNvSpPr/>
          <p:nvPr/>
        </p:nvSpPr>
        <p:spPr>
          <a:xfrm>
            <a:off x="868680" y="2103120"/>
            <a:ext cx="640080" cy="640080"/>
          </a:xfrm>
          <a:prstGeom prst="ellipse">
            <a:avLst/>
          </a:prstGeom>
          <a:solidFill>
            <a:schemeClr val="tx2"/>
          </a:solidFill>
          <a:ln w="12700">
            <a:solidFill>
              <a:schemeClr val="tx2"/>
            </a:solidFill>
            <a:prstDash val="solid"/>
          </a:ln>
        </p:spPr>
      </p:sp>
      <p:pic>
        <p:nvPicPr>
          <p:cNvPr id="7" name="Spec icon 1" descr="preencoded.png">    </p:cNvPr>
          <p:cNvPicPr>
            <a:picLocks noChangeAspect="1"/>
          </p:cNvPicPr>
          <p:nvPr/>
        </p:nvPicPr>
        <p:blipFill>
          <a:blip r:embed="rId1"/>
          <a:stretch>
            <a:fillRect/>
          </a:stretch>
        </p:blipFill>
        <p:spPr>
          <a:xfrm>
            <a:off x="1041502" y="2275942"/>
            <a:ext cx="294437" cy="294437"/>
          </a:xfrm>
          <a:prstGeom prst="rect">
            <a:avLst/>
          </a:prstGeom>
        </p:spPr>
      </p:pic>
      <p:sp>
        <p:nvSpPr>
          <p:cNvPr id="8" name="Spec file 1"/>
          <p:cNvSpPr txBox="1"/>
          <p:nvPr/>
        </p:nvSpPr>
        <p:spPr>
          <a:xfrm>
            <a:off x="1691640" y="2103120"/>
            <a:ext cx="2240280" cy="365760"/>
          </a:xfrm>
          <a:prstGeom prst="rect">
            <a:avLst/>
          </a:prstGeom>
          <a:noFill/>
          <a:ln/>
        </p:spPr>
        <p:txBody>
          <a:bodyPr wrap="square" lIns="0" tIns="0" rIns="0" bIns="0" rtlCol="0" anchor="t"/>
          <a:lstStyle/>
          <a:p>
            <a:pPr indent="0" marL="0">
              <a:buNone/>
            </a:pPr>
            <a:r>
              <a:rPr lang="en-US" sz="1900" b="1" dirty="0">
                <a:solidFill>
                  <a:schemeClr val="tx2"/>
                </a:solidFill>
              </a:rPr>
              <a:t>requirements.md</a:t>
            </a:r>
            <a:endParaRPr lang="en-US" sz="1900" dirty="0"/>
          </a:p>
        </p:txBody>
      </p:sp>
      <p:sp>
        <p:nvSpPr>
          <p:cNvPr id="9" name="Spec purpose 1"/>
          <p:cNvSpPr txBox="1"/>
          <p:nvPr/>
        </p:nvSpPr>
        <p:spPr>
          <a:xfrm>
            <a:off x="1691640" y="2468880"/>
            <a:ext cx="2240280" cy="292608"/>
          </a:xfrm>
          <a:prstGeom prst="rect">
            <a:avLst/>
          </a:prstGeom>
          <a:noFill/>
          <a:ln/>
        </p:spPr>
        <p:txBody>
          <a:bodyPr wrap="square" lIns="0" tIns="0" rIns="0" bIns="0" rtlCol="0" anchor="t"/>
          <a:lstStyle/>
          <a:p>
            <a:pPr indent="0" marL="0">
              <a:buNone/>
            </a:pPr>
            <a:r>
              <a:rPr lang="en-US" sz="1300" dirty="0">
                <a:solidFill>
                  <a:schemeClr val="accent5"/>
                </a:solidFill>
              </a:rPr>
              <a:t>What Smazy must do</a:t>
            </a:r>
            <a:endParaRPr lang="en-US" sz="1300" dirty="0"/>
          </a:p>
        </p:txBody>
      </p:sp>
      <p:sp>
        <p:nvSpPr>
          <p:cNvPr id="10" name="Spec content 1"/>
          <p:cNvSpPr txBox="1"/>
          <p:nvPr/>
        </p:nvSpPr>
        <p:spPr>
          <a:xfrm>
            <a:off x="868680" y="3063240"/>
            <a:ext cx="2926080" cy="160020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When a student uploads a course folder, Smazy shall automatically group files into Learn and Course Info.</a:t>
            </a:r>
            <a:endParaRPr lang="en-US" sz="1600" dirty="0"/>
          </a:p>
        </p:txBody>
      </p:sp>
      <p:sp>
        <p:nvSpPr>
          <p:cNvPr id="11" name="Spec arrow 1"/>
          <p:cNvSpPr/>
          <p:nvPr/>
        </p:nvSpPr>
        <p:spPr>
          <a:xfrm>
            <a:off x="4014216" y="3099816"/>
            <a:ext cx="384048" cy="384048"/>
          </a:xfrm>
          <a:prstGeom prst="ellipse">
            <a:avLst/>
          </a:prstGeom>
          <a:solidFill>
            <a:schemeClr val="accent1"/>
          </a:solidFill>
          <a:ln w="25400">
            <a:solidFill>
              <a:schemeClr val="bg1"/>
            </a:solidFill>
            <a:prstDash val="solid"/>
          </a:ln>
        </p:spPr>
      </p:sp>
      <p:pic>
        <p:nvPicPr>
          <p:cNvPr id="12" name="Spec arrow icon 1" descr="preencoded.png">    </p:cNvPr>
          <p:cNvPicPr>
            <a:picLocks noChangeAspect="1"/>
          </p:cNvPicPr>
          <p:nvPr/>
        </p:nvPicPr>
        <p:blipFill>
          <a:blip r:embed="rId2"/>
          <a:stretch>
            <a:fillRect/>
          </a:stretch>
        </p:blipFill>
        <p:spPr>
          <a:xfrm>
            <a:off x="4114800" y="3200400"/>
            <a:ext cx="182880" cy="182880"/>
          </a:xfrm>
          <a:prstGeom prst="rect">
            <a:avLst/>
          </a:prstGeom>
        </p:spPr>
      </p:pic>
      <p:sp>
        <p:nvSpPr>
          <p:cNvPr id="13" name="Spec card 2"/>
          <p:cNvSpPr/>
          <p:nvPr/>
        </p:nvSpPr>
        <p:spPr>
          <a:xfrm>
            <a:off x="4343400" y="1783080"/>
            <a:ext cx="3520440" cy="3017520"/>
          </a:xfrm>
          <a:prstGeom prst="roundRect">
            <a:avLst>
              <a:gd name="adj" fmla="val 3636"/>
            </a:avLst>
          </a:prstGeom>
          <a:solidFill>
            <a:schemeClr val="bg2"/>
          </a:solidFill>
          <a:ln w="12700">
            <a:solidFill>
              <a:schemeClr val="bg2"/>
            </a:solidFill>
            <a:prstDash val="solid"/>
          </a:ln>
        </p:spPr>
      </p:sp>
      <p:sp>
        <p:nvSpPr>
          <p:cNvPr id="14" name="Spec icon 2 circle"/>
          <p:cNvSpPr/>
          <p:nvPr/>
        </p:nvSpPr>
        <p:spPr>
          <a:xfrm>
            <a:off x="4663440" y="2103120"/>
            <a:ext cx="640080" cy="640080"/>
          </a:xfrm>
          <a:prstGeom prst="ellipse">
            <a:avLst/>
          </a:prstGeom>
          <a:solidFill>
            <a:schemeClr val="accent2"/>
          </a:solidFill>
          <a:ln w="12700">
            <a:solidFill>
              <a:schemeClr val="accent2"/>
            </a:solidFill>
            <a:prstDash val="solid"/>
          </a:ln>
        </p:spPr>
      </p:sp>
      <p:pic>
        <p:nvPicPr>
          <p:cNvPr id="15" name="Spec icon 2" descr="preencoded.png">    </p:cNvPr>
          <p:cNvPicPr>
            <a:picLocks noChangeAspect="1"/>
          </p:cNvPicPr>
          <p:nvPr/>
        </p:nvPicPr>
        <p:blipFill>
          <a:blip r:embed="rId3"/>
          <a:stretch>
            <a:fillRect/>
          </a:stretch>
        </p:blipFill>
        <p:spPr>
          <a:xfrm>
            <a:off x="4836262" y="2275942"/>
            <a:ext cx="294437" cy="294437"/>
          </a:xfrm>
          <a:prstGeom prst="rect">
            <a:avLst/>
          </a:prstGeom>
        </p:spPr>
      </p:pic>
      <p:sp>
        <p:nvSpPr>
          <p:cNvPr id="16" name="Spec file 2"/>
          <p:cNvSpPr txBox="1"/>
          <p:nvPr/>
        </p:nvSpPr>
        <p:spPr>
          <a:xfrm>
            <a:off x="5486400" y="2103120"/>
            <a:ext cx="2240280" cy="365760"/>
          </a:xfrm>
          <a:prstGeom prst="rect">
            <a:avLst/>
          </a:prstGeom>
          <a:noFill/>
          <a:ln/>
        </p:spPr>
        <p:txBody>
          <a:bodyPr wrap="square" lIns="0" tIns="0" rIns="0" bIns="0" rtlCol="0" anchor="t"/>
          <a:lstStyle/>
          <a:p>
            <a:pPr indent="0" marL="0">
              <a:buNone/>
            </a:pPr>
            <a:r>
              <a:rPr lang="en-US" sz="1900" b="1" dirty="0">
                <a:solidFill>
                  <a:schemeClr val="tx2"/>
                </a:solidFill>
              </a:rPr>
              <a:t>design.md</a:t>
            </a:r>
            <a:endParaRPr lang="en-US" sz="1900" dirty="0"/>
          </a:p>
        </p:txBody>
      </p:sp>
      <p:sp>
        <p:nvSpPr>
          <p:cNvPr id="17" name="Spec purpose 2"/>
          <p:cNvSpPr txBox="1"/>
          <p:nvPr/>
        </p:nvSpPr>
        <p:spPr>
          <a:xfrm>
            <a:off x="5486400" y="2468880"/>
            <a:ext cx="2240280" cy="292608"/>
          </a:xfrm>
          <a:prstGeom prst="rect">
            <a:avLst/>
          </a:prstGeom>
          <a:noFill/>
          <a:ln/>
        </p:spPr>
        <p:txBody>
          <a:bodyPr wrap="square" lIns="0" tIns="0" rIns="0" bIns="0" rtlCol="0" anchor="t"/>
          <a:lstStyle/>
          <a:p>
            <a:pPr indent="0" marL="0">
              <a:buNone/>
            </a:pPr>
            <a:r>
              <a:rPr lang="en-US" sz="1300" dirty="0">
                <a:solidFill>
                  <a:schemeClr val="accent5"/>
                </a:solidFill>
              </a:rPr>
              <a:t>How it’s built</a:t>
            </a:r>
            <a:endParaRPr lang="en-US" sz="1300" dirty="0"/>
          </a:p>
        </p:txBody>
      </p:sp>
      <p:sp>
        <p:nvSpPr>
          <p:cNvPr id="18" name="Spec content 2"/>
          <p:cNvSpPr txBox="1"/>
          <p:nvPr/>
        </p:nvSpPr>
        <p:spPr>
          <a:xfrm>
            <a:off x="4663440" y="3063240"/>
            <a:ext cx="2926080" cy="1600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Study Partner chat + conversation logs</a:t>
            </a:r>
            <a:endParaRPr lang="en-US" sz="1600" dirty="0"/>
          </a:p>
        </p:txBody>
      </p:sp>
      <p:sp>
        <p:nvSpPr>
          <p:cNvPr id="19" name="Spec arrow 2"/>
          <p:cNvSpPr/>
          <p:nvPr/>
        </p:nvSpPr>
        <p:spPr>
          <a:xfrm>
            <a:off x="7808976" y="3099816"/>
            <a:ext cx="384048" cy="384048"/>
          </a:xfrm>
          <a:prstGeom prst="ellipse">
            <a:avLst/>
          </a:prstGeom>
          <a:solidFill>
            <a:schemeClr val="accent1"/>
          </a:solidFill>
          <a:ln w="25400">
            <a:solidFill>
              <a:schemeClr val="bg1"/>
            </a:solidFill>
            <a:prstDash val="solid"/>
          </a:ln>
        </p:spPr>
      </p:sp>
      <p:pic>
        <p:nvPicPr>
          <p:cNvPr id="20" name="Spec arrow icon 2" descr="preencoded.png">    </p:cNvPr>
          <p:cNvPicPr>
            <a:picLocks noChangeAspect="1"/>
          </p:cNvPicPr>
          <p:nvPr/>
        </p:nvPicPr>
        <p:blipFill>
          <a:blip r:embed="rId4"/>
          <a:stretch>
            <a:fillRect/>
          </a:stretch>
        </p:blipFill>
        <p:spPr>
          <a:xfrm>
            <a:off x="7909560" y="3200400"/>
            <a:ext cx="182880" cy="182880"/>
          </a:xfrm>
          <a:prstGeom prst="rect">
            <a:avLst/>
          </a:prstGeom>
        </p:spPr>
      </p:pic>
      <p:sp>
        <p:nvSpPr>
          <p:cNvPr id="21" name="Spec card 3"/>
          <p:cNvSpPr/>
          <p:nvPr/>
        </p:nvSpPr>
        <p:spPr>
          <a:xfrm>
            <a:off x="8138160" y="1783080"/>
            <a:ext cx="3520440" cy="3017520"/>
          </a:xfrm>
          <a:prstGeom prst="roundRect">
            <a:avLst>
              <a:gd name="adj" fmla="val 3636"/>
            </a:avLst>
          </a:prstGeom>
          <a:solidFill>
            <a:schemeClr val="bg2"/>
          </a:solidFill>
          <a:ln w="12700">
            <a:solidFill>
              <a:schemeClr val="bg2"/>
            </a:solidFill>
            <a:prstDash val="solid"/>
          </a:ln>
        </p:spPr>
      </p:sp>
      <p:sp>
        <p:nvSpPr>
          <p:cNvPr id="22" name="Spec icon 3 circle"/>
          <p:cNvSpPr/>
          <p:nvPr/>
        </p:nvSpPr>
        <p:spPr>
          <a:xfrm>
            <a:off x="8458200" y="2103120"/>
            <a:ext cx="640080" cy="640080"/>
          </a:xfrm>
          <a:prstGeom prst="ellipse">
            <a:avLst/>
          </a:prstGeom>
          <a:solidFill>
            <a:schemeClr val="tx2"/>
          </a:solidFill>
          <a:ln w="12700">
            <a:solidFill>
              <a:schemeClr val="tx2"/>
            </a:solidFill>
            <a:prstDash val="solid"/>
          </a:ln>
        </p:spPr>
      </p:sp>
      <p:pic>
        <p:nvPicPr>
          <p:cNvPr id="23" name="Spec icon 3" descr="preencoded.png">    </p:cNvPr>
          <p:cNvPicPr>
            <a:picLocks noChangeAspect="1"/>
          </p:cNvPicPr>
          <p:nvPr/>
        </p:nvPicPr>
        <p:blipFill>
          <a:blip r:embed="rId5"/>
          <a:stretch>
            <a:fillRect/>
          </a:stretch>
        </p:blipFill>
        <p:spPr>
          <a:xfrm>
            <a:off x="8631022" y="2275942"/>
            <a:ext cx="294437" cy="294437"/>
          </a:xfrm>
          <a:prstGeom prst="rect">
            <a:avLst/>
          </a:prstGeom>
        </p:spPr>
      </p:pic>
      <p:sp>
        <p:nvSpPr>
          <p:cNvPr id="24" name="Spec file 3"/>
          <p:cNvSpPr txBox="1"/>
          <p:nvPr/>
        </p:nvSpPr>
        <p:spPr>
          <a:xfrm>
            <a:off x="9281160" y="2103120"/>
            <a:ext cx="2240280" cy="365760"/>
          </a:xfrm>
          <a:prstGeom prst="rect">
            <a:avLst/>
          </a:prstGeom>
          <a:noFill/>
          <a:ln/>
        </p:spPr>
        <p:txBody>
          <a:bodyPr wrap="square" lIns="0" tIns="0" rIns="0" bIns="0" rtlCol="0" anchor="t"/>
          <a:lstStyle/>
          <a:p>
            <a:pPr indent="0" marL="0">
              <a:buNone/>
            </a:pPr>
            <a:r>
              <a:rPr lang="en-US" sz="1900" b="1" dirty="0">
                <a:solidFill>
                  <a:schemeClr val="tx2"/>
                </a:solidFill>
              </a:rPr>
              <a:t>tasks.md</a:t>
            </a:r>
            <a:endParaRPr lang="en-US" sz="1900" dirty="0"/>
          </a:p>
        </p:txBody>
      </p:sp>
      <p:sp>
        <p:nvSpPr>
          <p:cNvPr id="25" name="Spec purpose 3"/>
          <p:cNvSpPr txBox="1"/>
          <p:nvPr/>
        </p:nvSpPr>
        <p:spPr>
          <a:xfrm>
            <a:off x="9281160" y="2468880"/>
            <a:ext cx="2240280" cy="292608"/>
          </a:xfrm>
          <a:prstGeom prst="rect">
            <a:avLst/>
          </a:prstGeom>
          <a:noFill/>
          <a:ln/>
        </p:spPr>
        <p:txBody>
          <a:bodyPr wrap="square" lIns="0" tIns="0" rIns="0" bIns="0" rtlCol="0" anchor="t"/>
          <a:lstStyle/>
          <a:p>
            <a:pPr indent="0" marL="0">
              <a:buNone/>
            </a:pPr>
            <a:r>
              <a:rPr lang="en-US" sz="1300" dirty="0">
                <a:solidFill>
                  <a:schemeClr val="accent5"/>
                </a:solidFill>
              </a:rPr>
              <a:t>Step-by-step build plan</a:t>
            </a:r>
            <a:endParaRPr lang="en-US" sz="1300" dirty="0"/>
          </a:p>
        </p:txBody>
      </p:sp>
      <p:sp>
        <p:nvSpPr>
          <p:cNvPr id="26" name="Spec content 3"/>
          <p:cNvSpPr txBox="1"/>
          <p:nvPr/>
        </p:nvSpPr>
        <p:spPr>
          <a:xfrm>
            <a:off x="8458200" y="3063240"/>
            <a:ext cx="2926080" cy="160020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Build upload screen</a:t>
            </a:r>
            <a:endParaRPr lang="en-US" sz="1600" dirty="0"/>
          </a:p>
          <a:p>
            <a:pPr marL="203200" indent="-203200">
              <a:spcAft>
                <a:spcPts val="800"/>
              </a:spcAft>
              <a:buSzPct val="100000"/>
              <a:buChar char="•"/>
            </a:pPr>
            <a:r>
              <a:rPr lang="en-US" sz="1600" dirty="0">
                <a:solidFill>
                  <a:schemeClr val="tx1"/>
                </a:solidFill>
              </a:rPr>
              <a:t>Build auto-grouping</a:t>
            </a:r>
            <a:endParaRPr lang="en-US" sz="1600" dirty="0"/>
          </a:p>
          <a:p>
            <a:pPr marL="203200" indent="-203200">
              <a:spcAft>
                <a:spcPts val="800"/>
              </a:spcAft>
              <a:buSzPct val="100000"/>
              <a:buChar char="•"/>
            </a:pPr>
            <a:r>
              <a:rPr lang="en-US" sz="1600" dirty="0">
                <a:solidFill>
                  <a:schemeClr val="tx1"/>
                </a:solidFill>
              </a:rPr>
              <a:t>Build personality questions</a:t>
            </a:r>
            <a:endParaRPr lang="en-US" sz="1600" dirty="0"/>
          </a:p>
        </p:txBody>
      </p:sp>
      <p:sp>
        <p:nvSpPr>
          <p:cNvPr id="27" name="Spec takeaway"/>
          <p:cNvSpPr txBox="1"/>
          <p:nvPr/>
        </p:nvSpPr>
        <p:spPr>
          <a:xfrm>
            <a:off x="548640" y="5120640"/>
            <a:ext cx="11064240" cy="411480"/>
          </a:xfrm>
          <a:prstGeom prst="rect">
            <a:avLst/>
          </a:prstGeom>
          <a:noFill/>
          <a:ln/>
        </p:spPr>
        <p:txBody>
          <a:bodyPr wrap="square" lIns="0" tIns="0" rIns="0" bIns="0" rtlCol="0" anchor="ctr"/>
          <a:lstStyle/>
          <a:p>
            <a:pPr indent="0" marL="0">
              <a:buNone/>
            </a:pPr>
            <a:r>
              <a:rPr lang="en-US" sz="1800" b="1" dirty="0">
                <a:solidFill>
                  <a:schemeClr val="tx2"/>
                </a:solidFill>
              </a:rPr>
              <a:t>Spec in Kiro: </a:t>
            </a:r>
            <a:pPr indent="0" marL="0">
              <a:buNone/>
            </a:pPr>
            <a:r>
              <a:rPr lang="en-US" sz="1800" i="1" dirty="0">
                <a:solidFill>
                  <a:schemeClr val="accent1"/>
                </a:solidFill>
              </a:rPr>
              <a:t>requirements → design → tasks, so every feature we built traces back to a requirement.</a:t>
            </a:r>
            <a:endParaRPr lang="en-US" sz="1800" dirty="0"/>
          </a:p>
        </p:txBody>
      </p:sp>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86868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DEMO LIMITATIONS</a:t>
            </a:r>
            <a:endParaRPr lang="en-US" sz="1200" dirty="0"/>
          </a:p>
        </p:txBody>
      </p:sp>
      <p:sp>
        <p:nvSpPr>
          <p:cNvPr id="4" name="Text 0"/>
          <p:cNvSpPr/>
          <p:nvPr>
            <p:ph idx="101" type="title" hasCustomPrompt="1"/>
          </p:nvPr>
        </p:nvSpPr>
        <p:spPr>
          <a:xfrm>
            <a:off x="548640" y="676656"/>
            <a:ext cx="11064240" cy="749808"/>
          </a:xfrm>
          <a:prstGeom prst="rect">
            <a:avLst/>
          </a:prstGeom>
          <a:noFill/>
          <a:ln/>
        </p:spPr>
        <p:txBody>
          <a:bodyPr wrap="square" lIns="0" tIns="0" rIns="0" bIns="0" rtlCol="0" anchor="ctr"/>
          <a:lstStyle/>
          <a:p>
            <a:pPr algn="l" indent="0" marL="0">
              <a:buNone/>
            </a:pPr>
            <a:r>
              <a:rPr lang="en-US" sz="3200" b="1" dirty="0">
                <a:solidFill>
                  <a:schemeClr val="tx2"/>
                </a:solidFill>
              </a:rPr>
              <a:t>Built in a short time, so some things aren’t there yet</a:t>
            </a:r>
            <a:endParaRPr lang="en-US" sz="3200" dirty="0"/>
          </a:p>
        </p:txBody>
      </p:sp>
      <p:sp>
        <p:nvSpPr>
          <p:cNvPr id="5" name="Limits card 1"/>
          <p:cNvSpPr/>
          <p:nvPr/>
        </p:nvSpPr>
        <p:spPr>
          <a:xfrm>
            <a:off x="548640" y="1783080"/>
            <a:ext cx="5440680" cy="4343400"/>
          </a:xfrm>
          <a:prstGeom prst="roundRect">
            <a:avLst>
              <a:gd name="adj" fmla="val 2526"/>
            </a:avLst>
          </a:prstGeom>
          <a:solidFill>
            <a:schemeClr val="accent4"/>
          </a:solidFill>
          <a:ln w="12700">
            <a:solidFill>
              <a:schemeClr val="accent4"/>
            </a:solidFill>
            <a:prstDash val="solid"/>
          </a:ln>
        </p:spPr>
      </p:sp>
      <p:sp>
        <p:nvSpPr>
          <p:cNvPr id="6" name="Limits icon 1 circle"/>
          <p:cNvSpPr/>
          <p:nvPr/>
        </p:nvSpPr>
        <p:spPr>
          <a:xfrm>
            <a:off x="868680" y="2057400"/>
            <a:ext cx="566928" cy="566928"/>
          </a:xfrm>
          <a:prstGeom prst="ellipse">
            <a:avLst/>
          </a:prstGeom>
          <a:solidFill>
            <a:schemeClr val="accent1"/>
          </a:solidFill>
          <a:ln w="12700">
            <a:solidFill>
              <a:schemeClr val="accent1"/>
            </a:solidFill>
            <a:prstDash val="solid"/>
          </a:ln>
        </p:spPr>
      </p:sp>
      <p:pic>
        <p:nvPicPr>
          <p:cNvPr id="7" name="Limits icon 1" descr="preencoded.png">    </p:cNvPr>
          <p:cNvPicPr>
            <a:picLocks noChangeAspect="1"/>
          </p:cNvPicPr>
          <p:nvPr/>
        </p:nvPicPr>
        <p:blipFill>
          <a:blip r:embed="rId1"/>
          <a:stretch>
            <a:fillRect/>
          </a:stretch>
        </p:blipFill>
        <p:spPr>
          <a:xfrm>
            <a:off x="1021751" y="2210471"/>
            <a:ext cx="260787" cy="260787"/>
          </a:xfrm>
          <a:prstGeom prst="rect">
            <a:avLst/>
          </a:prstGeom>
        </p:spPr>
      </p:pic>
      <p:sp>
        <p:nvSpPr>
          <p:cNvPr id="8" name="Limits heading 1"/>
          <p:cNvSpPr txBox="1"/>
          <p:nvPr/>
        </p:nvSpPr>
        <p:spPr>
          <a:xfrm>
            <a:off x="1600200" y="2057400"/>
            <a:ext cx="4114800" cy="566928"/>
          </a:xfrm>
          <a:prstGeom prst="rect">
            <a:avLst/>
          </a:prstGeom>
          <a:noFill/>
          <a:ln/>
        </p:spPr>
        <p:txBody>
          <a:bodyPr wrap="square" lIns="0" tIns="0" rIns="0" bIns="0" rtlCol="0" anchor="ctr"/>
          <a:lstStyle/>
          <a:p>
            <a:pPr indent="0" marL="0">
              <a:buNone/>
            </a:pPr>
            <a:r>
              <a:rPr lang="en-US" sz="2000" b="1" dirty="0">
                <a:solidFill>
                  <a:schemeClr val="tx2"/>
                </a:solidFill>
              </a:rPr>
              <a:t>Not built yet (out of time)</a:t>
            </a:r>
            <a:endParaRPr lang="en-US" sz="2000" dirty="0"/>
          </a:p>
        </p:txBody>
      </p:sp>
      <p:sp>
        <p:nvSpPr>
          <p:cNvPr id="9" name="Limits reason"/>
          <p:cNvSpPr txBox="1"/>
          <p:nvPr/>
        </p:nvSpPr>
        <p:spPr>
          <a:xfrm>
            <a:off x="868680" y="5120640"/>
            <a:ext cx="4846320" cy="822960"/>
          </a:xfrm>
          <a:prstGeom prst="rect">
            <a:avLst/>
          </a:prstGeom>
          <a:noFill/>
          <a:ln/>
        </p:spPr>
        <p:txBody>
          <a:bodyPr wrap="square" lIns="0" tIns="0" rIns="0" bIns="0" rtlCol="0" anchor="t"/>
          <a:lstStyle/>
          <a:p>
            <a:pPr indent="0" marL="0">
              <a:buNone/>
            </a:pPr>
            <a:r>
              <a:rPr lang="en-US" sz="1400" b="1" dirty="0">
                <a:solidFill>
                  <a:schemeClr val="accent1"/>
                </a:solidFill>
              </a:rPr>
              <a:t>Why: </a:t>
            </a:r>
            <a:pPr indent="0" marL="0">
              <a:buNone/>
            </a:pPr>
            <a:r>
              <a:rPr lang="en-US" sz="1400" i="1" dirty="0">
                <a:solidFill>
                  <a:schemeClr val="tx2"/>
                </a:solidFill>
              </a:rPr>
              <a:t>we spent our limited time on the core flow and the on-slide experience: sorting, chat, the history tree and markup.</a:t>
            </a:r>
            <a:endParaRPr lang="en-US" sz="1400" dirty="0"/>
          </a:p>
        </p:txBody>
      </p:sp>
      <p:sp>
        <p:nvSpPr>
          <p:cNvPr id="10" name="Limits list 1"/>
          <p:cNvSpPr txBox="1"/>
          <p:nvPr/>
        </p:nvSpPr>
        <p:spPr>
          <a:xfrm>
            <a:off x="868680" y="2880360"/>
            <a:ext cx="4846320" cy="210312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chemeClr val="tx2"/>
                </a:solidFill>
              </a:rPr>
              <a:t>A personality-matched partner: </a:t>
            </a:r>
            <a:pPr indent="0" marL="0">
              <a:buNone/>
            </a:pPr>
            <a:r>
              <a:rPr lang="en-US" sz="1500" dirty="0">
                <a:solidFill>
                  <a:schemeClr val="tx1"/>
                </a:solidFill>
              </a:rPr>
              <a:t>today every student gets the same Study Partner. Only its name and look are theirs.</a:t>
            </a:r>
            <a:endParaRPr lang="en-US" sz="1500" dirty="0"/>
          </a:p>
          <a:p>
            <a:pPr marL="228600" indent="-228600">
              <a:spcAft>
                <a:spcPts val="1000"/>
              </a:spcAft>
              <a:buSzPct val="100000"/>
              <a:buChar char="•"/>
            </a:pPr>
            <a:r>
              <a:rPr lang="en-US" sz="1500" b="1" dirty="0">
                <a:solidFill>
                  <a:schemeClr val="tx2"/>
                </a:solidFill>
              </a:rPr>
              <a:t>The rest of Feature 3: </a:t>
            </a:r>
            <a:pPr indent="0" marL="0">
              <a:buNone/>
            </a:pPr>
            <a:r>
              <a:rPr lang="en-US" sz="1500" dirty="0">
                <a:solidFill>
                  <a:schemeClr val="tx1"/>
                </a:solidFill>
              </a:rPr>
              <a:t>the “still confused” review list, auto study notes, and one-key recall of saved answers.</a:t>
            </a:r>
            <a:endParaRPr lang="en-US" sz="1500" dirty="0"/>
          </a:p>
          <a:p>
            <a:pPr marL="228600" indent="-228600">
              <a:spcAft>
                <a:spcPts val="1000"/>
              </a:spcAft>
              <a:buSzPct val="100000"/>
              <a:buChar char="•"/>
            </a:pPr>
            <a:r>
              <a:rPr lang="en-US" sz="1500" b="1" dirty="0">
                <a:solidFill>
                  <a:schemeClr val="tx2"/>
                </a:solidFill>
              </a:rPr>
              <a:t>Proactive margin hints </a:t>
            </a:r>
            <a:pPr indent="0" marL="0">
              <a:buNone/>
            </a:pPr>
            <a:r>
              <a:rPr lang="en-US" sz="1500" dirty="0">
                <a:solidFill>
                  <a:schemeClr val="tx1"/>
                </a:solidFill>
              </a:rPr>
              <a:t>on tricky slides.</a:t>
            </a:r>
            <a:endParaRPr lang="en-US" sz="1500" dirty="0"/>
          </a:p>
        </p:txBody>
      </p:sp>
      <p:sp>
        <p:nvSpPr>
          <p:cNvPr id="11" name="Limits card 2"/>
          <p:cNvSpPr/>
          <p:nvPr/>
        </p:nvSpPr>
        <p:spPr>
          <a:xfrm>
            <a:off x="6217920" y="1783080"/>
            <a:ext cx="5440680" cy="4343400"/>
          </a:xfrm>
          <a:prstGeom prst="roundRect">
            <a:avLst>
              <a:gd name="adj" fmla="val 2526"/>
            </a:avLst>
          </a:prstGeom>
          <a:solidFill>
            <a:schemeClr val="bg2"/>
          </a:solidFill>
          <a:ln w="12700">
            <a:solidFill>
              <a:schemeClr val="bg2"/>
            </a:solidFill>
            <a:prstDash val="solid"/>
          </a:ln>
        </p:spPr>
      </p:sp>
      <p:sp>
        <p:nvSpPr>
          <p:cNvPr id="12" name="Limits icon 2 circle"/>
          <p:cNvSpPr/>
          <p:nvPr/>
        </p:nvSpPr>
        <p:spPr>
          <a:xfrm>
            <a:off x="6537960" y="2057400"/>
            <a:ext cx="566928" cy="566928"/>
          </a:xfrm>
          <a:prstGeom prst="ellipse">
            <a:avLst/>
          </a:prstGeom>
          <a:solidFill>
            <a:schemeClr val="tx2"/>
          </a:solidFill>
          <a:ln w="12700">
            <a:solidFill>
              <a:schemeClr val="tx2"/>
            </a:solidFill>
            <a:prstDash val="solid"/>
          </a:ln>
        </p:spPr>
      </p:sp>
      <p:pic>
        <p:nvPicPr>
          <p:cNvPr id="13" name="Limits icon 2" descr="preencoded.png">    </p:cNvPr>
          <p:cNvPicPr>
            <a:picLocks noChangeAspect="1"/>
          </p:cNvPicPr>
          <p:nvPr/>
        </p:nvPicPr>
        <p:blipFill>
          <a:blip r:embed="rId2"/>
          <a:stretch>
            <a:fillRect/>
          </a:stretch>
        </p:blipFill>
        <p:spPr>
          <a:xfrm>
            <a:off x="6691031" y="2210471"/>
            <a:ext cx="260787" cy="260787"/>
          </a:xfrm>
          <a:prstGeom prst="rect">
            <a:avLst/>
          </a:prstGeom>
        </p:spPr>
      </p:pic>
      <p:sp>
        <p:nvSpPr>
          <p:cNvPr id="14" name="Limits heading 2"/>
          <p:cNvSpPr txBox="1"/>
          <p:nvPr/>
        </p:nvSpPr>
        <p:spPr>
          <a:xfrm>
            <a:off x="7269480" y="2057400"/>
            <a:ext cx="4114800" cy="566928"/>
          </a:xfrm>
          <a:prstGeom prst="rect">
            <a:avLst/>
          </a:prstGeom>
          <a:noFill/>
          <a:ln/>
        </p:spPr>
        <p:txBody>
          <a:bodyPr wrap="square" lIns="0" tIns="0" rIns="0" bIns="0" rtlCol="0" anchor="ctr"/>
          <a:lstStyle/>
          <a:p>
            <a:pPr indent="0" marL="0">
              <a:buNone/>
            </a:pPr>
            <a:r>
              <a:rPr lang="en-US" sz="2000" b="1" dirty="0">
                <a:solidFill>
                  <a:schemeClr val="tx2"/>
                </a:solidFill>
              </a:rPr>
              <a:t>Prototype shortcuts</a:t>
            </a:r>
            <a:endParaRPr lang="en-US" sz="2000" dirty="0"/>
          </a:p>
        </p:txBody>
      </p:sp>
      <p:sp>
        <p:nvSpPr>
          <p:cNvPr id="15" name="Limits list 2"/>
          <p:cNvSpPr txBox="1"/>
          <p:nvPr/>
        </p:nvSpPr>
        <p:spPr>
          <a:xfrm>
            <a:off x="6537960" y="2880360"/>
            <a:ext cx="4846320" cy="310896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chemeClr val="tx2"/>
                </a:solidFill>
              </a:rPr>
              <a:t>Runs on one laptop: </a:t>
            </a:r>
            <a:pPr indent="0" marL="0">
              <a:buNone/>
            </a:pPr>
            <a:r>
              <a:rPr lang="en-US" sz="1500" dirty="0">
                <a:solidFill>
                  <a:schemeClr val="tx1"/>
                </a:solidFill>
              </a:rPr>
              <a:t>no accounts, cloud storage or encryption; chats and notes stay in the browser.</a:t>
            </a:r>
            <a:endParaRPr lang="en-US" sz="1500" dirty="0"/>
          </a:p>
          <a:p>
            <a:pPr marL="228600" indent="-228600">
              <a:spcAft>
                <a:spcPts val="1000"/>
              </a:spcAft>
              <a:buSzPct val="100000"/>
              <a:buChar char="•"/>
            </a:pPr>
            <a:r>
              <a:rPr lang="en-US" sz="1500" b="1" dirty="0">
                <a:solidFill>
                  <a:schemeClr val="tx2"/>
                </a:solidFill>
              </a:rPr>
              <a:t>The demo’s AI model is small (free, local Gemma): </a:t>
            </a:r>
            <a:pPr indent="0" marL="0">
              <a:buNone/>
            </a:pPr>
            <a:r>
              <a:rPr lang="en-US" sz="1500" dirty="0">
                <a:solidFill>
                  <a:schemeClr val="tx1"/>
                </a:solidFill>
              </a:rPr>
              <a:t>too small to adapt to each student’s personality, and sometimes wrong. We expect a larger model such as Claude Opus to do far better; Bedrock is wired in, awaiting credits.</a:t>
            </a:r>
            <a:endParaRPr lang="en-US" sz="1500" dirty="0"/>
          </a:p>
          <a:p>
            <a:pPr marL="228600" indent="-228600">
              <a:spcAft>
                <a:spcPts val="1000"/>
              </a:spcAft>
              <a:buSzPct val="100000"/>
              <a:buChar char="•"/>
            </a:pPr>
            <a:r>
              <a:rPr lang="en-US" sz="1500" b="1" dirty="0">
                <a:solidFill>
                  <a:schemeClr val="tx2"/>
                </a:solidFill>
              </a:rPr>
              <a:t>Sorting and praise follow written rules, </a:t>
            </a:r>
            <a:pPr indent="0" marL="0">
              <a:buNone/>
            </a:pPr>
            <a:r>
              <a:rPr lang="en-US" sz="1500" dirty="0">
                <a:solidFill>
                  <a:schemeClr val="tx1"/>
                </a:solidFill>
              </a:rPr>
              <a:t>not the AI model.</a:t>
            </a:r>
            <a:endParaRPr lang="en-US" sz="1500" dirty="0"/>
          </a:p>
          <a:p>
            <a:pPr marL="228600" indent="-228600">
              <a:spcAft>
                <a:spcPts val="1000"/>
              </a:spcAft>
              <a:buSzPct val="100000"/>
              <a:buChar char="•"/>
            </a:pPr>
            <a:r>
              <a:rPr lang="en-US" sz="1500" b="1" dirty="0">
                <a:solidFill>
                  <a:schemeClr val="tx2"/>
                </a:solidFill>
              </a:rPr>
              <a:t>Not yet tested with students, </a:t>
            </a:r>
            <a:pPr indent="0" marL="0">
              <a:buNone/>
            </a:pPr>
            <a:r>
              <a:rPr lang="en-US" sz="1500" dirty="0">
                <a:solidFill>
                  <a:schemeClr val="tx1"/>
                </a:solidFill>
              </a:rPr>
              <a:t>only on 5 of our own courses.</a:t>
            </a:r>
            <a:endParaRPr lang="en-US" sz="1500" dirty="0"/>
          </a:p>
        </p:txBody>
      </p:sp>
      <p:sp>
        <p:nvSpPr>
          <p:cNvPr id="25" name="Slide Number Placeholder 0"/>
          <p:cNvSpPr>
            <a:spLocks noGrp="1"/>
          </p:cNvSpPr>
          <p:nvPr>
            <p:ph type="sldNum" sz="quarter" idx="4294967295"/>
          </p:nvPr>
        </p:nvSpPr>
        <p:spPr>
          <a:xfrm>
            <a:off x="11247120" y="637336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Kicker"/>
          <p:cNvSpPr txBox="1"/>
          <p:nvPr/>
        </p:nvSpPr>
        <p:spPr>
          <a:xfrm>
            <a:off x="548640" y="502920"/>
            <a:ext cx="5486400" cy="292608"/>
          </a:xfrm>
          <a:prstGeom prst="rect">
            <a:avLst/>
          </a:prstGeom>
          <a:noFill/>
          <a:ln/>
        </p:spPr>
        <p:txBody>
          <a:bodyPr wrap="square" lIns="0" tIns="0" rIns="0" bIns="0" rtlCol="0" anchor="ctr"/>
          <a:lstStyle/>
          <a:p>
            <a:pPr indent="0" marL="0">
              <a:buNone/>
            </a:pPr>
            <a:r>
              <a:rPr lang="en-US" sz="1200" b="1" spc="300" kern="0" dirty="0">
                <a:solidFill>
                  <a:schemeClr val="accent1"/>
                </a:solidFill>
              </a:rPr>
              <a:t>NEXT STEPS</a:t>
            </a:r>
            <a:endParaRPr lang="en-US" sz="1200" dirty="0"/>
          </a:p>
        </p:txBody>
      </p:sp>
      <p:sp>
        <p:nvSpPr>
          <p:cNvPr id="4" name="Title"/>
          <p:cNvSpPr txBox="1"/>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chemeClr val="bg1"/>
                </a:solidFill>
                <a:latin typeface="+mj-lt" pitchFamily="34" charset="0"/>
                <a:ea typeface="+mj-lt" pitchFamily="34" charset="-122"/>
                <a:cs typeface="+mj-lt" pitchFamily="34" charset="-120"/>
              </a:rPr>
              <a:t>From hackathon demo to every student’s study desk</a:t>
            </a:r>
            <a:endParaRPr lang="en-US" sz="3200" dirty="0"/>
          </a:p>
        </p:txBody>
      </p:sp>
      <p:sp>
        <p:nvSpPr>
          <p:cNvPr id="5" name="Next card 1"/>
          <p:cNvSpPr/>
          <p:nvPr/>
        </p:nvSpPr>
        <p:spPr>
          <a:xfrm>
            <a:off x="548640" y="1965960"/>
            <a:ext cx="2606040" cy="2377440"/>
          </a:xfrm>
          <a:prstGeom prst="roundRect">
            <a:avLst>
              <a:gd name="adj" fmla="val 4615"/>
            </a:avLst>
          </a:prstGeom>
          <a:solidFill>
            <a:schemeClr val="bg1">
              <a:alpha val="10000"/>
            </a:schemeClr>
          </a:solidFill>
          <a:ln w="12700">
            <a:solidFill>
              <a:schemeClr val="bg1">
                <a:alpha val="25000"/>
              </a:schemeClr>
            </a:solidFill>
            <a:prstDash val="solid"/>
          </a:ln>
        </p:spPr>
      </p:sp>
      <p:sp>
        <p:nvSpPr>
          <p:cNvPr id="6" name="Next icon 1 circle"/>
          <p:cNvSpPr/>
          <p:nvPr/>
        </p:nvSpPr>
        <p:spPr>
          <a:xfrm>
            <a:off x="822960" y="2240280"/>
            <a:ext cx="566928" cy="566928"/>
          </a:xfrm>
          <a:prstGeom prst="ellipse">
            <a:avLst/>
          </a:prstGeom>
          <a:solidFill>
            <a:schemeClr val="accent1"/>
          </a:solidFill>
          <a:ln w="12700">
            <a:solidFill>
              <a:schemeClr val="accent1"/>
            </a:solidFill>
            <a:prstDash val="solid"/>
          </a:ln>
        </p:spPr>
      </p:sp>
      <p:pic>
        <p:nvPicPr>
          <p:cNvPr id="7" name="Next icon 1" descr="preencoded.png">    </p:cNvPr>
          <p:cNvPicPr>
            <a:picLocks noChangeAspect="1"/>
          </p:cNvPicPr>
          <p:nvPr/>
        </p:nvPicPr>
        <p:blipFill>
          <a:blip r:embed="rId1"/>
          <a:stretch>
            <a:fillRect/>
          </a:stretch>
        </p:blipFill>
        <p:spPr>
          <a:xfrm>
            <a:off x="976031" y="2393351"/>
            <a:ext cx="260787" cy="260787"/>
          </a:xfrm>
          <a:prstGeom prst="rect">
            <a:avLst/>
          </a:prstGeom>
        </p:spPr>
      </p:pic>
      <p:sp>
        <p:nvSpPr>
          <p:cNvPr id="8" name="Next heading 1"/>
          <p:cNvSpPr txBox="1"/>
          <p:nvPr/>
        </p:nvSpPr>
        <p:spPr>
          <a:xfrm>
            <a:off x="822960" y="3017520"/>
            <a:ext cx="2148840" cy="411480"/>
          </a:xfrm>
          <a:prstGeom prst="rect">
            <a:avLst/>
          </a:prstGeom>
          <a:noFill/>
          <a:ln/>
        </p:spPr>
        <p:txBody>
          <a:bodyPr wrap="square" lIns="0" tIns="0" rIns="0" bIns="0" rtlCol="0" anchor="t"/>
          <a:lstStyle/>
          <a:p>
            <a:pPr indent="0" marL="0">
              <a:buNone/>
            </a:pPr>
            <a:r>
              <a:rPr lang="en-US" sz="1700" b="1" dirty="0">
                <a:solidFill>
                  <a:schemeClr val="bg1"/>
                </a:solidFill>
              </a:rPr>
              <a:t>Finish the panel</a:t>
            </a:r>
            <a:endParaRPr lang="en-US" sz="1700" dirty="0"/>
          </a:p>
        </p:txBody>
      </p:sp>
      <p:sp>
        <p:nvSpPr>
          <p:cNvPr id="9" name="Next text 1"/>
          <p:cNvSpPr txBox="1"/>
          <p:nvPr/>
        </p:nvSpPr>
        <p:spPr>
          <a:xfrm>
            <a:off x="822960" y="3401568"/>
            <a:ext cx="2148840" cy="731520"/>
          </a:xfrm>
          <a:prstGeom prst="rect">
            <a:avLst/>
          </a:prstGeom>
          <a:noFill/>
          <a:ln/>
        </p:spPr>
        <p:txBody>
          <a:bodyPr wrap="square" lIns="0" tIns="0" rIns="0" bIns="0" rtlCol="0" anchor="t"/>
          <a:lstStyle/>
          <a:p>
            <a:pPr indent="0" marL="0">
              <a:buNone/>
            </a:pPr>
            <a:r>
              <a:rPr lang="en-US" sz="1400" dirty="0">
                <a:solidFill>
                  <a:schemeClr val="accent6"/>
                </a:solidFill>
              </a:rPr>
              <a:t>Review list, auto study notes and one-key recall</a:t>
            </a:r>
            <a:endParaRPr lang="en-US" sz="1400" dirty="0"/>
          </a:p>
        </p:txBody>
      </p:sp>
      <p:sp>
        <p:nvSpPr>
          <p:cNvPr id="10" name="Next card 2"/>
          <p:cNvSpPr/>
          <p:nvPr/>
        </p:nvSpPr>
        <p:spPr>
          <a:xfrm>
            <a:off x="3383280" y="1965960"/>
            <a:ext cx="2606040" cy="2377440"/>
          </a:xfrm>
          <a:prstGeom prst="roundRect">
            <a:avLst>
              <a:gd name="adj" fmla="val 4615"/>
            </a:avLst>
          </a:prstGeom>
          <a:solidFill>
            <a:schemeClr val="bg1">
              <a:alpha val="10000"/>
            </a:schemeClr>
          </a:solidFill>
          <a:ln w="12700">
            <a:solidFill>
              <a:schemeClr val="bg1">
                <a:alpha val="25000"/>
              </a:schemeClr>
            </a:solidFill>
            <a:prstDash val="solid"/>
          </a:ln>
        </p:spPr>
      </p:sp>
      <p:sp>
        <p:nvSpPr>
          <p:cNvPr id="11" name="Next icon 2 circle"/>
          <p:cNvSpPr/>
          <p:nvPr/>
        </p:nvSpPr>
        <p:spPr>
          <a:xfrm>
            <a:off x="3657600" y="2240280"/>
            <a:ext cx="566928" cy="566928"/>
          </a:xfrm>
          <a:prstGeom prst="ellipse">
            <a:avLst/>
          </a:prstGeom>
          <a:solidFill>
            <a:schemeClr val="accent1"/>
          </a:solidFill>
          <a:ln w="12700">
            <a:solidFill>
              <a:schemeClr val="accent1"/>
            </a:solidFill>
            <a:prstDash val="solid"/>
          </a:ln>
        </p:spPr>
      </p:sp>
      <p:pic>
        <p:nvPicPr>
          <p:cNvPr id="12" name="Next icon 2" descr="preencoded.png">    </p:cNvPr>
          <p:cNvPicPr>
            <a:picLocks noChangeAspect="1"/>
          </p:cNvPicPr>
          <p:nvPr/>
        </p:nvPicPr>
        <p:blipFill>
          <a:blip r:embed="rId2"/>
          <a:stretch>
            <a:fillRect/>
          </a:stretch>
        </p:blipFill>
        <p:spPr>
          <a:xfrm>
            <a:off x="3810671" y="2393351"/>
            <a:ext cx="260787" cy="260787"/>
          </a:xfrm>
          <a:prstGeom prst="rect">
            <a:avLst/>
          </a:prstGeom>
        </p:spPr>
      </p:pic>
      <p:sp>
        <p:nvSpPr>
          <p:cNvPr id="13" name="Next heading 2"/>
          <p:cNvSpPr txBox="1"/>
          <p:nvPr/>
        </p:nvSpPr>
        <p:spPr>
          <a:xfrm>
            <a:off x="3657600" y="3017520"/>
            <a:ext cx="2148840" cy="411480"/>
          </a:xfrm>
          <a:prstGeom prst="rect">
            <a:avLst/>
          </a:prstGeom>
          <a:noFill/>
          <a:ln/>
        </p:spPr>
        <p:txBody>
          <a:bodyPr wrap="square" lIns="0" tIns="0" rIns="0" bIns="0" rtlCol="0" anchor="t"/>
          <a:lstStyle/>
          <a:p>
            <a:pPr indent="0" marL="0">
              <a:buNone/>
            </a:pPr>
            <a:r>
              <a:rPr lang="en-US" sz="1700" b="1" dirty="0">
                <a:solidFill>
                  <a:schemeClr val="bg1"/>
                </a:solidFill>
              </a:rPr>
              <a:t>Personality + Claude</a:t>
            </a:r>
            <a:endParaRPr lang="en-US" sz="1700" dirty="0"/>
          </a:p>
        </p:txBody>
      </p:sp>
      <p:sp>
        <p:nvSpPr>
          <p:cNvPr id="14" name="Next text 2"/>
          <p:cNvSpPr txBox="1"/>
          <p:nvPr/>
        </p:nvSpPr>
        <p:spPr>
          <a:xfrm>
            <a:off x="3657600" y="3401568"/>
            <a:ext cx="2148840" cy="731520"/>
          </a:xfrm>
          <a:prstGeom prst="rect">
            <a:avLst/>
          </a:prstGeom>
          <a:noFill/>
          <a:ln/>
        </p:spPr>
        <p:txBody>
          <a:bodyPr wrap="square" lIns="0" tIns="0" rIns="0" bIns="0" rtlCol="0" anchor="t"/>
          <a:lstStyle/>
          <a:p>
            <a:pPr indent="0" marL="0">
              <a:buNone/>
            </a:pPr>
            <a:r>
              <a:rPr lang="en-US" sz="1400" dirty="0">
                <a:solidFill>
                  <a:schemeClr val="accent6"/>
                </a:solidFill>
              </a:rPr>
              <a:t>Personality questions, with Claude on Bedrock as the partner’s brain</a:t>
            </a:r>
            <a:endParaRPr lang="en-US" sz="1400" dirty="0"/>
          </a:p>
        </p:txBody>
      </p:sp>
      <p:sp>
        <p:nvSpPr>
          <p:cNvPr id="15" name="Next card 3"/>
          <p:cNvSpPr/>
          <p:nvPr/>
        </p:nvSpPr>
        <p:spPr>
          <a:xfrm>
            <a:off x="6217920" y="1965960"/>
            <a:ext cx="2606040" cy="2377440"/>
          </a:xfrm>
          <a:prstGeom prst="roundRect">
            <a:avLst>
              <a:gd name="adj" fmla="val 4615"/>
            </a:avLst>
          </a:prstGeom>
          <a:solidFill>
            <a:schemeClr val="bg1">
              <a:alpha val="10000"/>
            </a:schemeClr>
          </a:solidFill>
          <a:ln w="12700">
            <a:solidFill>
              <a:schemeClr val="bg1">
                <a:alpha val="25000"/>
              </a:schemeClr>
            </a:solidFill>
            <a:prstDash val="solid"/>
          </a:ln>
        </p:spPr>
      </p:sp>
      <p:sp>
        <p:nvSpPr>
          <p:cNvPr id="16" name="Next icon 3 circle"/>
          <p:cNvSpPr/>
          <p:nvPr/>
        </p:nvSpPr>
        <p:spPr>
          <a:xfrm>
            <a:off x="6492240" y="2240280"/>
            <a:ext cx="566928" cy="566928"/>
          </a:xfrm>
          <a:prstGeom prst="ellipse">
            <a:avLst/>
          </a:prstGeom>
          <a:solidFill>
            <a:schemeClr val="accent1"/>
          </a:solidFill>
          <a:ln w="12700">
            <a:solidFill>
              <a:schemeClr val="accent1"/>
            </a:solidFill>
            <a:prstDash val="solid"/>
          </a:ln>
        </p:spPr>
      </p:sp>
      <p:pic>
        <p:nvPicPr>
          <p:cNvPr id="17" name="Next icon 3" descr="preencoded.png">    </p:cNvPr>
          <p:cNvPicPr>
            <a:picLocks noChangeAspect="1"/>
          </p:cNvPicPr>
          <p:nvPr/>
        </p:nvPicPr>
        <p:blipFill>
          <a:blip r:embed="rId3"/>
          <a:stretch>
            <a:fillRect/>
          </a:stretch>
        </p:blipFill>
        <p:spPr>
          <a:xfrm>
            <a:off x="6645311" y="2393351"/>
            <a:ext cx="260787" cy="260787"/>
          </a:xfrm>
          <a:prstGeom prst="rect">
            <a:avLst/>
          </a:prstGeom>
        </p:spPr>
      </p:pic>
      <p:sp>
        <p:nvSpPr>
          <p:cNvPr id="18" name="Next heading 3"/>
          <p:cNvSpPr txBox="1"/>
          <p:nvPr/>
        </p:nvSpPr>
        <p:spPr>
          <a:xfrm>
            <a:off x="6492240" y="3017520"/>
            <a:ext cx="2148840" cy="411480"/>
          </a:xfrm>
          <a:prstGeom prst="rect">
            <a:avLst/>
          </a:prstGeom>
          <a:noFill/>
          <a:ln/>
        </p:spPr>
        <p:txBody>
          <a:bodyPr wrap="square" lIns="0" tIns="0" rIns="0" bIns="0" rtlCol="0" anchor="t"/>
          <a:lstStyle/>
          <a:p>
            <a:pPr indent="0" marL="0">
              <a:buNone/>
            </a:pPr>
            <a:r>
              <a:rPr lang="en-US" sz="1700" b="1" dirty="0">
                <a:solidFill>
                  <a:schemeClr val="bg1"/>
                </a:solidFill>
              </a:rPr>
              <a:t>Private cloud storage</a:t>
            </a:r>
            <a:endParaRPr lang="en-US" sz="1700" dirty="0"/>
          </a:p>
        </p:txBody>
      </p:sp>
      <p:sp>
        <p:nvSpPr>
          <p:cNvPr id="19" name="Next text 3"/>
          <p:cNvSpPr txBox="1"/>
          <p:nvPr/>
        </p:nvSpPr>
        <p:spPr>
          <a:xfrm>
            <a:off x="6492240" y="3401568"/>
            <a:ext cx="2148840" cy="731520"/>
          </a:xfrm>
          <a:prstGeom prst="rect">
            <a:avLst/>
          </a:prstGeom>
          <a:noFill/>
          <a:ln/>
        </p:spPr>
        <p:txBody>
          <a:bodyPr wrap="square" lIns="0" tIns="0" rIns="0" bIns="0" rtlCol="0" anchor="t"/>
          <a:lstStyle/>
          <a:p>
            <a:pPr indent="0" marL="0">
              <a:buNone/>
            </a:pPr>
            <a:r>
              <a:rPr lang="en-US" sz="1400" dirty="0">
                <a:solidFill>
                  <a:schemeClr val="accent6"/>
                </a:solidFill>
              </a:rPr>
              <a:t>Everything synced, with user-side encryption</a:t>
            </a:r>
            <a:endParaRPr lang="en-US" sz="1400" dirty="0"/>
          </a:p>
        </p:txBody>
      </p:sp>
      <p:sp>
        <p:nvSpPr>
          <p:cNvPr id="20" name="Next card 4"/>
          <p:cNvSpPr/>
          <p:nvPr/>
        </p:nvSpPr>
        <p:spPr>
          <a:xfrm>
            <a:off x="9052560" y="1965960"/>
            <a:ext cx="2606040" cy="2377440"/>
          </a:xfrm>
          <a:prstGeom prst="roundRect">
            <a:avLst>
              <a:gd name="adj" fmla="val 4615"/>
            </a:avLst>
          </a:prstGeom>
          <a:solidFill>
            <a:schemeClr val="bg1">
              <a:alpha val="10000"/>
            </a:schemeClr>
          </a:solidFill>
          <a:ln w="12700">
            <a:solidFill>
              <a:schemeClr val="bg1">
                <a:alpha val="25000"/>
              </a:schemeClr>
            </a:solidFill>
            <a:prstDash val="solid"/>
          </a:ln>
        </p:spPr>
      </p:sp>
      <p:sp>
        <p:nvSpPr>
          <p:cNvPr id="21" name="Next icon 4 circle"/>
          <p:cNvSpPr/>
          <p:nvPr/>
        </p:nvSpPr>
        <p:spPr>
          <a:xfrm>
            <a:off x="9326880" y="2240280"/>
            <a:ext cx="566928" cy="566928"/>
          </a:xfrm>
          <a:prstGeom prst="ellipse">
            <a:avLst/>
          </a:prstGeom>
          <a:solidFill>
            <a:schemeClr val="accent1"/>
          </a:solidFill>
          <a:ln w="12700">
            <a:solidFill>
              <a:schemeClr val="accent1"/>
            </a:solidFill>
            <a:prstDash val="solid"/>
          </a:ln>
        </p:spPr>
      </p:sp>
      <p:pic>
        <p:nvPicPr>
          <p:cNvPr id="22" name="Next icon 4" descr="preencoded.png">    </p:cNvPr>
          <p:cNvPicPr>
            <a:picLocks noChangeAspect="1"/>
          </p:cNvPicPr>
          <p:nvPr/>
        </p:nvPicPr>
        <p:blipFill>
          <a:blip r:embed="rId4"/>
          <a:stretch>
            <a:fillRect/>
          </a:stretch>
        </p:blipFill>
        <p:spPr>
          <a:xfrm>
            <a:off x="9479951" y="2393351"/>
            <a:ext cx="260787" cy="260787"/>
          </a:xfrm>
          <a:prstGeom prst="rect">
            <a:avLst/>
          </a:prstGeom>
        </p:spPr>
      </p:pic>
      <p:sp>
        <p:nvSpPr>
          <p:cNvPr id="23" name="Next heading 4"/>
          <p:cNvSpPr txBox="1"/>
          <p:nvPr/>
        </p:nvSpPr>
        <p:spPr>
          <a:xfrm>
            <a:off x="9326880" y="3017520"/>
            <a:ext cx="2148840" cy="411480"/>
          </a:xfrm>
          <a:prstGeom prst="rect">
            <a:avLst/>
          </a:prstGeom>
          <a:noFill/>
          <a:ln/>
        </p:spPr>
        <p:txBody>
          <a:bodyPr wrap="square" lIns="0" tIns="0" rIns="0" bIns="0" rtlCol="0" anchor="t"/>
          <a:lstStyle/>
          <a:p>
            <a:pPr indent="0" marL="0">
              <a:buNone/>
            </a:pPr>
            <a:r>
              <a:rPr lang="en-US" sz="1700" b="1" dirty="0">
                <a:solidFill>
                  <a:schemeClr val="bg1"/>
                </a:solidFill>
              </a:rPr>
              <a:t>Test with real students</a:t>
            </a:r>
            <a:endParaRPr lang="en-US" sz="1700" dirty="0"/>
          </a:p>
        </p:txBody>
      </p:sp>
      <p:sp>
        <p:nvSpPr>
          <p:cNvPr id="24" name="Next text 4"/>
          <p:cNvSpPr txBox="1"/>
          <p:nvPr/>
        </p:nvSpPr>
        <p:spPr>
          <a:xfrm>
            <a:off x="9326880" y="3401568"/>
            <a:ext cx="2148840" cy="731520"/>
          </a:xfrm>
          <a:prstGeom prst="rect">
            <a:avLst/>
          </a:prstGeom>
          <a:noFill/>
          <a:ln/>
        </p:spPr>
        <p:txBody>
          <a:bodyPr wrap="square" lIns="0" tIns="0" rIns="0" bIns="0" rtlCol="0" anchor="t"/>
          <a:lstStyle/>
          <a:p>
            <a:pPr indent="0" marL="0">
              <a:buNone/>
            </a:pPr>
            <a:r>
              <a:rPr lang="en-US" sz="1400" dirty="0">
                <a:solidFill>
                  <a:schemeClr val="accent6"/>
                </a:solidFill>
              </a:rPr>
              <a:t>A real course folder, a real semester</a:t>
            </a:r>
            <a:endParaRPr lang="en-US" sz="1400" dirty="0"/>
          </a:p>
        </p:txBody>
      </p:sp>
      <p:sp>
        <p:nvSpPr>
          <p:cNvPr id="25" name="Closing dot"/>
          <p:cNvSpPr/>
          <p:nvPr/>
        </p:nvSpPr>
        <p:spPr>
          <a:xfrm>
            <a:off x="548640" y="5184648"/>
            <a:ext cx="274320" cy="274320"/>
          </a:xfrm>
          <a:prstGeom prst="ellipse">
            <a:avLst/>
          </a:prstGeom>
          <a:solidFill>
            <a:schemeClr val="accent1"/>
          </a:solidFill>
          <a:ln w="12700">
            <a:solidFill>
              <a:schemeClr val="accent1"/>
            </a:solidFill>
            <a:prstDash val="solid"/>
          </a:ln>
        </p:spPr>
      </p:sp>
      <p:sp>
        <p:nvSpPr>
          <p:cNvPr id="26" name="Closing line"/>
          <p:cNvSpPr txBox="1"/>
          <p:nvPr/>
        </p:nvSpPr>
        <p:spPr>
          <a:xfrm>
            <a:off x="960120" y="4937760"/>
            <a:ext cx="7315200" cy="777240"/>
          </a:xfrm>
          <a:prstGeom prst="rect">
            <a:avLst/>
          </a:prstGeom>
          <a:noFill/>
          <a:ln/>
        </p:spPr>
        <p:txBody>
          <a:bodyPr wrap="square" lIns="0" tIns="0" rIns="0" bIns="0" rtlCol="0" anchor="ctr"/>
          <a:lstStyle/>
          <a:p>
            <a:pPr indent="0" marL="0">
              <a:buNone/>
            </a:pPr>
            <a:r>
              <a:rPr lang="en-US" sz="3600" i="1" dirty="0">
                <a:solidFill>
                  <a:schemeClr val="bg1"/>
                </a:solidFill>
                <a:latin typeface="+mj-lt" pitchFamily="34" charset="0"/>
                <a:ea typeface="+mj-lt" pitchFamily="34" charset="-122"/>
                <a:cs typeface="+mj-lt" pitchFamily="34" charset="-120"/>
              </a:rPr>
              <a:t>Smazy. Smart about being lazy.</a:t>
            </a:r>
            <a:endParaRPr lang="en-US" sz="3600" dirty="0"/>
          </a:p>
        </p:txBody>
      </p:sp>
      <p:sp>
        <p:nvSpPr>
          <p:cNvPr id="27" name="Thanks"/>
          <p:cNvSpPr txBox="1"/>
          <p:nvPr/>
        </p:nvSpPr>
        <p:spPr>
          <a:xfrm>
            <a:off x="548640" y="5806440"/>
            <a:ext cx="5486400" cy="411480"/>
          </a:xfrm>
          <a:prstGeom prst="rect">
            <a:avLst/>
          </a:prstGeom>
          <a:noFill/>
          <a:ln/>
        </p:spPr>
        <p:txBody>
          <a:bodyPr wrap="square" lIns="0" tIns="0" rIns="0" bIns="0" rtlCol="0" anchor="ctr"/>
          <a:lstStyle/>
          <a:p>
            <a:pPr indent="0" marL="0">
              <a:buNone/>
            </a:pPr>
            <a:r>
              <a:rPr lang="en-US" sz="1800" b="1" dirty="0">
                <a:solidFill>
                  <a:schemeClr val="accent1"/>
                </a:solidFill>
              </a:rPr>
              <a:t>Thank you! Questions?</a:t>
            </a:r>
            <a:endParaRPr lang="en-US" sz="1800" dirty="0"/>
          </a:p>
        </p:txBody>
      </p:sp>
    </p:spTree>
  </p:cSld>
  <p:clrMapOvr>
    <a:masterClrMapping/>
  </p:clrMapOvr>
</p:sld>
</file>

<file path=ppt/theme/theme1.xml><?xml version="1.0" encoding="utf-8"?>
<a:theme xmlns:a="http://schemas.openxmlformats.org/drawingml/2006/main" name="Smazy">
  <a:themeElements>
    <a:clrScheme name="Smazy">
      <a:dk1>
        <a:srgbClr val="1B2A3A"/>
      </a:dk1>
      <a:lt1>
        <a:srgbClr val="FFFFFF"/>
      </a:lt1>
      <a:dk2>
        <a:srgbClr val="193B5A"/>
      </a:dk2>
      <a:lt2>
        <a:srgbClr val="F4F0E8"/>
      </a:lt2>
      <a:accent1>
        <a:srgbClr val="E2704F"/>
      </a:accent1>
      <a:accent2>
        <a:srgbClr val="2E6F95"/>
      </a:accent2>
      <a:accent3>
        <a:srgbClr val="3F8A6B"/>
      </a:accent3>
      <a:accent4>
        <a:srgbClr val="FBE6DE"/>
      </a:accent4>
      <a:accent5>
        <a:srgbClr val="6D7C8C"/>
      </a:accent5>
      <a:accent6>
        <a:srgbClr val="E2EDF0"/>
      </a:accent6>
      <a:hlink>
        <a:srgbClr val="2E6F95"/>
      </a:hlink>
      <a:folHlink>
        <a:srgbClr val="6D7C8C"/>
      </a:folHlink>
    </a:clrScheme>
    <a:fontScheme name="Smaz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Smazy: Smart about being lazy</dc:title>
  <dc:subject>PptxGenJS Presentation</dc:subject>
  <dc:creator>Team Smazy</dc:creator>
  <cp:lastModifiedBy>Team Smazy</cp:lastModifiedBy>
  <cp:revision>1</cp:revision>
  <dcterms:created xsi:type="dcterms:W3CDTF">2026-10-13T07:58:53Z</dcterms:created>
  <dcterms:modified xsi:type="dcterms:W3CDTF">2026-10-13T07:58:53Z</dcterms:modified>
</cp:coreProperties>
</file>